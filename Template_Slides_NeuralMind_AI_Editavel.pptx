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3465433"/>
            <a:ext cx="1956673" cy="230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209" b="1">
                <a:solidFill>
                  <a:srgbClr val="9381FF"/>
                </a:solidFill>
                <a:latin typeface="NeuralMind Sans Square"/>
              </a:rPr>
              <a:t>BRAND GUIDE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5041582"/>
            <a:ext cx="4053601" cy="8776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sz="2620" b="0">
                <a:solidFill>
                  <a:srgbClr val="FFFFFC"/>
                </a:solidFill>
                <a:latin typeface="NeuralMind Sans Square"/>
              </a:rPr>
              <a:t>IA responsável para setores críticos.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373272"/>
            <a:ext cx="10507980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9381FF"/>
                </a:solidFill>
                <a:latin typeface="NeuralMind Sans Square"/>
              </a:rPr>
              <a:t>CAPÍTULO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848451"/>
            <a:ext cx="9158763" cy="822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740"/>
              </a:lnSpc>
              <a:spcBef>
                <a:spcPts val="0"/>
              </a:spcBef>
              <a:spcAft>
                <a:spcPts val="0"/>
              </a:spcAft>
            </a:pPr>
            <a:r>
              <a:rPr sz="7740" b="0">
                <a:solidFill>
                  <a:srgbClr val="FFFFFC"/>
                </a:solidFill>
                <a:latin typeface="NeuralMind Sans Square"/>
              </a:rPr>
              <a:t>Arquitetura de Produtos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902987"/>
            <a:ext cx="5158620" cy="618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63"/>
              </a:lnSpc>
              <a:spcBef>
                <a:spcPts val="0"/>
              </a:spcBef>
              <a:spcAft>
                <a:spcPts val="0"/>
              </a:spcAft>
            </a:pPr>
            <a:r>
              <a:rPr sz="1909" b="0">
                <a:solidFill>
                  <a:srgbClr val="FFFFFC"/>
                </a:solidFill>
                <a:latin typeface="NeuralMind Sans Square"/>
              </a:rPr>
              <a:t>Três verticais, um único compromisso: IA responsável para decisões em ambientes regulados.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08" y="755808"/>
            <a:ext cx="10703123" cy="247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314" b="1">
                <a:solidFill>
                  <a:srgbClr val="EF476F"/>
                </a:solidFill>
                <a:latin typeface="NeuralMind Sans Square"/>
              </a:rPr>
              <a:t>VERTICAIS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08" y="1393864"/>
            <a:ext cx="5024318" cy="2003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41"/>
              </a:lnSpc>
              <a:spcBef>
                <a:spcPts val="0"/>
              </a:spcBef>
              <a:spcAft>
                <a:spcPts val="0"/>
              </a:spcAft>
            </a:pPr>
            <a:r>
              <a:rPr sz="4940" b="0">
                <a:solidFill>
                  <a:srgbClr val="FFFFFC"/>
                </a:solidFill>
                <a:latin typeface="NeuralMind Sans Square"/>
              </a:rPr>
              <a:t>IA responsável para setores onde precisão não é opcional.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463" y="2568297"/>
            <a:ext cx="4688562" cy="829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01"/>
              </a:lnSpc>
              <a:spcBef>
                <a:spcPts val="0"/>
              </a:spcBef>
              <a:spcAft>
                <a:spcPts val="0"/>
              </a:spcAft>
            </a:pPr>
            <a:r>
              <a:rPr sz="1734" b="0">
                <a:solidFill>
                  <a:srgbClr val="FFFFFC"/>
                </a:solidFill>
                <a:latin typeface="NeuralMind Sans Square"/>
              </a:rPr>
              <a:t>Cada vertical resolve um tipo distinto de problema crítico, sempre com fonte verificável, rastreabilidade e supervisão humana no centro da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623" y="4080748"/>
            <a:ext cx="3019663" cy="21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03" b="1">
                <a:solidFill>
                  <a:srgbClr val="EF476F"/>
                </a:solidFill>
                <a:latin typeface="NeuralMind Sans Squar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623" y="4386024"/>
            <a:ext cx="3019663" cy="407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312" b="0">
                <a:solidFill>
                  <a:srgbClr val="FFFFFC"/>
                </a:solidFill>
                <a:latin typeface="NeuralMind Sans Square"/>
              </a:rPr>
              <a:t>Dados &amp; Conhecimento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623" y="4885253"/>
            <a:ext cx="3019663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345" b="0">
                <a:solidFill>
                  <a:srgbClr val="FFFFFC"/>
                </a:solidFill>
                <a:latin typeface="NeuralMind Sans Square"/>
              </a:rPr>
              <a:t>Transforma documentos, bases internas e informação não estruturada em respostas, evidências e insights verificáveis.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623" y="5754171"/>
            <a:ext cx="954405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NeuralSearchX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866" y="5754171"/>
            <a:ext cx="522684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NDocs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6388" y="5754171"/>
            <a:ext cx="802005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Tuss-Finder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79" y="4080748"/>
            <a:ext cx="3019782" cy="21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03" b="1">
                <a:solidFill>
                  <a:srgbClr val="EF476F"/>
                </a:solidFill>
                <a:latin typeface="NeuralMind Sans Squar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79" y="4386024"/>
            <a:ext cx="3019782" cy="407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312" b="0">
                <a:solidFill>
                  <a:srgbClr val="FFFFFC"/>
                </a:solidFill>
                <a:latin typeface="NeuralMind Sans Square"/>
              </a:rPr>
              <a:t>Jurídico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79" y="4885253"/>
            <a:ext cx="3019782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345" b="0">
                <a:solidFill>
                  <a:srgbClr val="FFFFFC"/>
                </a:solidFill>
                <a:latin typeface="NeuralMind Sans Square"/>
              </a:rPr>
              <a:t>Modelos e aplicações especializados no contexto brasileiro para apoiar análise, fundamentação e produção jurídica.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79" y="5754171"/>
            <a:ext cx="566856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Jurema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173" y="5754171"/>
            <a:ext cx="527089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ARACI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3101" y="5754171"/>
            <a:ext cx="647580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AssertIA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754171"/>
            <a:ext cx="486727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SofIA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7454" y="4080748"/>
            <a:ext cx="3019663" cy="21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03" b="1">
                <a:solidFill>
                  <a:srgbClr val="EF476F"/>
                </a:solidFill>
                <a:latin typeface="NeuralMind Sans Squar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7454" y="4386024"/>
            <a:ext cx="3019663" cy="407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312" b="0">
                <a:solidFill>
                  <a:srgbClr val="FFFFFC"/>
                </a:solidFill>
                <a:latin typeface="NeuralMind Sans Square"/>
              </a:rPr>
              <a:t>Saúde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7454" y="4885253"/>
            <a:ext cx="3019663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345" b="0">
                <a:solidFill>
                  <a:srgbClr val="FFFFFC"/>
                </a:solidFill>
                <a:latin typeface="NeuralMind Sans Square"/>
              </a:rPr>
              <a:t>Soluções para priorização, classificação e apoio operacional em ambientes clínicos, regulatórios e assistenciais.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7454" y="5754171"/>
            <a:ext cx="645318" cy="26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25"/>
              </a:lnSpc>
              <a:spcBef>
                <a:spcPts val="0"/>
              </a:spcBef>
              <a:spcAft>
                <a:spcPts val="0"/>
              </a:spcAft>
            </a:pPr>
            <a:r>
              <a:rPr sz="925" b="1">
                <a:solidFill>
                  <a:srgbClr val="FFFFFC"/>
                </a:solidFill>
                <a:latin typeface="NeuralMind Sans Square"/>
              </a:rPr>
              <a:t>PrioScan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85530"/>
            <a:ext cx="4349710" cy="2483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85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90241"/>
                </a:solidFill>
                <a:latin typeface="NeuralMind Sans Square"/>
              </a:rPr>
              <a:t>PRODUTO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63553"/>
            <a:ext cx="4349710" cy="6337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879"/>
              </a:lnSpc>
              <a:spcBef>
                <a:spcPts val="0"/>
              </a:spcBef>
              <a:spcAft>
                <a:spcPts val="0"/>
              </a:spcAft>
            </a:pPr>
            <a:r>
              <a:rPr sz="6124" b="0">
                <a:solidFill>
                  <a:srgbClr val="0F1108"/>
                </a:solidFill>
                <a:latin typeface="NeuralMind Sans Square"/>
              </a:rPr>
              <a:t>NeuralSearchX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26982"/>
            <a:ext cx="4237553" cy="568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16"/>
              </a:lnSpc>
              <a:spcBef>
                <a:spcPts val="0"/>
              </a:spcBef>
              <a:spcAft>
                <a:spcPts val="0"/>
              </a:spcAft>
            </a:pPr>
            <a:r>
              <a:rPr sz="2217" b="0">
                <a:solidFill>
                  <a:srgbClr val="290241"/>
                </a:solidFill>
                <a:latin typeface="NeuralMind Sans Square"/>
              </a:rPr>
              <a:t>IA que responde o que você precisa — com a fonte sempre à 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24688"/>
            <a:ext cx="3776186" cy="989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541" b="0">
                <a:solidFill>
                  <a:srgbClr val="0F1108"/>
                </a:solidFill>
                <a:latin typeface="NeuralMind Sans Square"/>
              </a:rPr>
              <a:t>Busca conversacional sobre bases internas de documentos. Cada resposta carrega o trecho original que a fundamenta, permitindo verificação imediata e decisões com lastro.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3483" y="4514135"/>
            <a:ext cx="3877746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F1108"/>
                </a:solidFill>
                <a:latin typeface="NeuralMind Sans Square"/>
              </a:rPr>
              <a:t>Busca semântica multifonte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36995"/>
            <a:ext cx="366117" cy="1740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03" b="1">
                <a:solidFill>
                  <a:srgbClr val="EF476F"/>
                </a:solidFill>
                <a:latin typeface="NeuralMind Sans Squar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3483" y="4906565"/>
            <a:ext cx="3877746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F1108"/>
                </a:solidFill>
                <a:latin typeface="NeuralMind Sans Square"/>
              </a:rPr>
              <a:t>Citação do trecho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29425"/>
            <a:ext cx="366117" cy="1740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03" b="1">
                <a:solidFill>
                  <a:srgbClr val="EF476F"/>
                </a:solidFill>
                <a:latin typeface="NeuralMind Sans Squar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483" y="5298995"/>
            <a:ext cx="3877746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F1108"/>
                </a:solidFill>
                <a:latin typeface="NeuralMind Sans Square"/>
              </a:rPr>
              <a:t>Validação humana no fluxo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21855"/>
            <a:ext cx="366117" cy="1740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03" b="1">
                <a:solidFill>
                  <a:srgbClr val="EF476F"/>
                </a:solidFill>
                <a:latin typeface="NeuralMind Sans Squar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0281" y="2182296"/>
            <a:ext cx="4981932" cy="175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865" b="1">
                <a:solidFill>
                  <a:srgbClr val="290241"/>
                </a:solidFill>
                <a:latin typeface="NeuralMind Sans Square"/>
              </a:rPr>
              <a:t>CONSULTA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0281" y="2385536"/>
            <a:ext cx="4981932" cy="2993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636" b="0">
                <a:solidFill>
                  <a:srgbClr val="0F1108"/>
                </a:solidFill>
                <a:latin typeface="NeuralMind Sans Square"/>
              </a:rPr>
              <a:t>Quais contratos exigem revisão regulatória?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6354" y="3081813"/>
            <a:ext cx="4949785" cy="175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865" b="1">
                <a:solidFill>
                  <a:srgbClr val="290241"/>
                </a:solidFill>
                <a:latin typeface="NeuralMind Sans Square"/>
              </a:rPr>
              <a:t>RESPOSTA COM FONTE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6354" y="3301126"/>
            <a:ext cx="4949785" cy="40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6"/>
              </a:lnSpc>
              <a:spcBef>
                <a:spcPts val="0"/>
              </a:spcBef>
              <a:spcAft>
                <a:spcPts val="0"/>
              </a:spcAft>
            </a:pPr>
            <a:r>
              <a:rPr sz="1246" b="0">
                <a:solidFill>
                  <a:srgbClr val="0F1108"/>
                </a:solidFill>
                <a:latin typeface="NeuralMind Sans Square"/>
              </a:rPr>
              <a:t>Foram identificados três documentos com cláusulas de atualização regulatória e prazo de revisão em aberto.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3492" y="4691538"/>
            <a:ext cx="2366010" cy="175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865" b="1">
                <a:solidFill>
                  <a:srgbClr val="290241"/>
                </a:solidFill>
                <a:latin typeface="NeuralMind Sans Square"/>
              </a:rPr>
              <a:t>FONTE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3492" y="4884062"/>
            <a:ext cx="2366010" cy="180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77" b="1">
                <a:solidFill>
                  <a:srgbClr val="290241"/>
                </a:solidFill>
                <a:latin typeface="NeuralMind Sans Square"/>
              </a:rPr>
              <a:t>Contrato matriz · pág.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2992" y="4691538"/>
            <a:ext cx="2366010" cy="175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865" b="1">
                <a:solidFill>
                  <a:srgbClr val="290241"/>
                </a:solidFill>
                <a:latin typeface="NeuralMind Sans Square"/>
              </a:rPr>
              <a:t>FONTE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2992" y="4884062"/>
            <a:ext cx="2366010" cy="180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77" b="1">
                <a:solidFill>
                  <a:srgbClr val="290241"/>
                </a:solidFill>
                <a:latin typeface="NeuralMind Sans Square"/>
              </a:rPr>
              <a:t>Anexo jurídico · pág.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409348"/>
            <a:ext cx="9117568" cy="15556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984"/>
              </a:lnSpc>
              <a:spcBef>
                <a:spcPts val="0"/>
              </a:spcBef>
              <a:spcAft>
                <a:spcPts val="0"/>
              </a:spcAft>
            </a:pPr>
            <a:r>
              <a:rPr sz="4334" b="0">
                <a:solidFill>
                  <a:srgbClr val="0F1108"/>
                </a:solidFill>
                <a:latin typeface="NeuralMind Sans Square"/>
              </a:rPr>
              <a:t>A IA gera, organiza, sugere e acelera.</a:t>
            </a:r>
          </a:p>
          <a:p>
            <a:pPr algn="l">
              <a:lnSpc>
                <a:spcPts val="4984"/>
              </a:lnSpc>
              <a:spcBef>
                <a:spcPts val="0"/>
              </a:spcBef>
              <a:spcAft>
                <a:spcPts val="0"/>
              </a:spcAft>
            </a:pPr>
            <a:r>
              <a:rPr sz="4334" b="0">
                <a:solidFill>
                  <a:srgbClr val="0F1108"/>
                </a:solidFill>
                <a:latin typeface="NeuralMind Sans Square"/>
              </a:rPr>
              <a:t>O humano valida, decide e assume o controle.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4233267"/>
            <a:ext cx="10507980" cy="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9"/>
              </a:lnSpc>
              <a:spcBef>
                <a:spcPts val="0"/>
              </a:spcBef>
              <a:spcAft>
                <a:spcPts val="0"/>
              </a:spcAft>
            </a:pPr>
            <a:r>
              <a:rPr sz="1341" b="1">
                <a:solidFill>
                  <a:srgbClr val="290241"/>
                </a:solidFill>
                <a:latin typeface="NeuralMind Sans Square"/>
              </a:rPr>
              <a:t>MANIFESTO NEURALMIND.AI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339578"/>
            <a:ext cx="4049791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290241"/>
                </a:solidFill>
                <a:latin typeface="NeuralMind Sans Square"/>
              </a:rPr>
              <a:t>POSICIONAMENTO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735341"/>
            <a:ext cx="4049791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851"/>
              </a:lnSpc>
              <a:spcBef>
                <a:spcPts val="0"/>
              </a:spcBef>
              <a:spcAft>
                <a:spcPts val="0"/>
              </a:spcAft>
            </a:pPr>
            <a:r>
              <a:rPr sz="5572" b="0">
                <a:solidFill>
                  <a:srgbClr val="0F1108"/>
                </a:solidFill>
                <a:latin typeface="NeuralMind Sans Square"/>
              </a:rPr>
              <a:t>Inteligência artificial com rastreabilidade.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1891" y="2099905"/>
            <a:ext cx="547092" cy="249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94"/>
              </a:lnSpc>
              <a:spcBef>
                <a:spcPts val="0"/>
              </a:spcBef>
              <a:spcAft>
                <a:spcPts val="0"/>
              </a:spcAft>
            </a:pPr>
            <a:r>
              <a:rPr sz="1496" b="1">
                <a:solidFill>
                  <a:srgbClr val="EF476F"/>
                </a:solidFill>
                <a:latin typeface="NeuralMind Sans Squar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5793" y="2038945"/>
            <a:ext cx="5015626" cy="608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17"/>
              </a:lnSpc>
              <a:spcBef>
                <a:spcPts val="0"/>
              </a:spcBef>
              <a:spcAft>
                <a:spcPts val="0"/>
              </a:spcAft>
            </a:pPr>
            <a:r>
              <a:rPr sz="2012" b="0">
                <a:solidFill>
                  <a:srgbClr val="0F1108"/>
                </a:solidFill>
                <a:latin typeface="NeuralMind Sans Square"/>
              </a:rPr>
              <a:t>Cada resposta carrega o trecho exato que a fundamenta.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1891" y="3203852"/>
            <a:ext cx="547092" cy="249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94"/>
              </a:lnSpc>
              <a:spcBef>
                <a:spcPts val="0"/>
              </a:spcBef>
              <a:spcAft>
                <a:spcPts val="0"/>
              </a:spcAft>
            </a:pPr>
            <a:r>
              <a:rPr sz="1496" b="1">
                <a:solidFill>
                  <a:srgbClr val="EF476F"/>
                </a:solidFill>
                <a:latin typeface="NeuralMind Sans Squar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5793" y="3142892"/>
            <a:ext cx="5015626" cy="608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17"/>
              </a:lnSpc>
              <a:spcBef>
                <a:spcPts val="0"/>
              </a:spcBef>
              <a:spcAft>
                <a:spcPts val="0"/>
              </a:spcAft>
            </a:pPr>
            <a:r>
              <a:rPr sz="2012" b="0">
                <a:solidFill>
                  <a:srgbClr val="0F1108"/>
                </a:solidFill>
                <a:latin typeface="NeuralMind Sans Square"/>
              </a:rPr>
              <a:t>Modelos especializados em domínio — não generalistas.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1891" y="4307800"/>
            <a:ext cx="547092" cy="249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94"/>
              </a:lnSpc>
              <a:spcBef>
                <a:spcPts val="0"/>
              </a:spcBef>
              <a:spcAft>
                <a:spcPts val="0"/>
              </a:spcAft>
            </a:pPr>
            <a:r>
              <a:rPr sz="1496" b="1">
                <a:solidFill>
                  <a:srgbClr val="EF476F"/>
                </a:solidFill>
                <a:latin typeface="NeuralMind Sans Square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793" y="4246840"/>
            <a:ext cx="5015626" cy="608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17"/>
              </a:lnSpc>
              <a:spcBef>
                <a:spcPts val="0"/>
              </a:spcBef>
              <a:spcAft>
                <a:spcPts val="0"/>
              </a:spcAft>
            </a:pPr>
            <a:r>
              <a:rPr sz="2012" b="0">
                <a:solidFill>
                  <a:srgbClr val="0F1108"/>
                </a:solidFill>
                <a:latin typeface="NeuralMind Sans Square"/>
              </a:rPr>
              <a:t>Operação auditável e em conformidade com a LGPD.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1521975"/>
            <a:ext cx="4637722" cy="268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82"/>
              </a:lnSpc>
              <a:spcBef>
                <a:spcPts val="0"/>
              </a:spcBef>
              <a:spcAft>
                <a:spcPts val="0"/>
              </a:spcAft>
            </a:pPr>
            <a:r>
              <a:rPr sz="1444" b="1">
                <a:solidFill>
                  <a:srgbClr val="9381FF"/>
                </a:solidFill>
                <a:latin typeface="NeuralMind Sans Square"/>
              </a:rPr>
              <a:t>RESULTADO · NEURALSEARCHX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491972"/>
            <a:ext cx="1573649" cy="308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95"/>
              </a:lnSpc>
              <a:spcBef>
                <a:spcPts val="0"/>
              </a:spcBef>
              <a:spcAft>
                <a:spcPts val="0"/>
              </a:spcAft>
            </a:pPr>
            <a:r>
              <a:rPr sz="24768" b="0">
                <a:solidFill>
                  <a:srgbClr val="FFFFFC"/>
                </a:solidFill>
                <a:latin typeface="NeuralMind Sans Square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9004" y="2749272"/>
            <a:ext cx="902017" cy="13282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714"/>
              </a:lnSpc>
              <a:spcBef>
                <a:spcPts val="0"/>
              </a:spcBef>
              <a:spcAft>
                <a:spcPts val="0"/>
              </a:spcAft>
            </a:pPr>
            <a:r>
              <a:rPr sz="14447" b="0">
                <a:solidFill>
                  <a:srgbClr val="EF476F"/>
                </a:solidFill>
                <a:latin typeface="NeuralMind Sans Square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4439721"/>
            <a:ext cx="4637722" cy="932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41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FFFFFC"/>
                </a:solidFill>
                <a:latin typeface="NeuralMind Sans Square"/>
              </a:rPr>
              <a:t>Redução de latência da busca semântica multifonte na nova arquitetura, sem perda de citação ou rastreabilidade.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731520"/>
            <a:ext cx="10507980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290241"/>
                </a:solidFill>
                <a:latin typeface="NeuralMind Sans Square"/>
              </a:rPr>
              <a:t>FLUXO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085254"/>
            <a:ext cx="7602021" cy="476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34"/>
              </a:lnSpc>
              <a:spcBef>
                <a:spcPts val="0"/>
              </a:spcBef>
              <a:spcAft>
                <a:spcPts val="0"/>
              </a:spcAft>
            </a:pPr>
            <a:r>
              <a:rPr sz="4128" b="0">
                <a:solidFill>
                  <a:srgbClr val="0F1108"/>
                </a:solidFill>
                <a:latin typeface="NeuralMind Sans Square"/>
              </a:rPr>
              <a:t>Da pergunta à decisão auditável.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4726185"/>
            <a:ext cx="2447567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EF476F"/>
                </a:solidFill>
                <a:latin typeface="NeuralMind Sans Squar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5038010"/>
            <a:ext cx="2447567" cy="31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2476" b="0">
                <a:solidFill>
                  <a:srgbClr val="0F1108"/>
                </a:solidFill>
                <a:latin typeface="NeuralMind Sans Square"/>
              </a:rPr>
              <a:t>Pergunta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5419605"/>
            <a:ext cx="2447567" cy="74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19"/>
              </a:lnSpc>
              <a:spcBef>
                <a:spcPts val="0"/>
              </a:spcBef>
              <a:spcAft>
                <a:spcPts val="0"/>
              </a:spcAft>
            </a:pPr>
            <a:r>
              <a:rPr sz="1599" b="0">
                <a:solidFill>
                  <a:srgbClr val="0F1108"/>
                </a:solidFill>
                <a:latin typeface="NeuralMind Sans Square"/>
              </a:rPr>
              <a:t>O usuário descreve a necessidade em linguagem comum.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0204" y="4726185"/>
            <a:ext cx="2447567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EF476F"/>
                </a:solidFill>
                <a:latin typeface="NeuralMind Sans Squar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0204" y="5038010"/>
            <a:ext cx="2447567" cy="31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2476" b="0">
                <a:solidFill>
                  <a:srgbClr val="0F1108"/>
                </a:solidFill>
                <a:latin typeface="NeuralMind Sans Square"/>
              </a:rPr>
              <a:t>Busca semântica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0204" y="5419605"/>
            <a:ext cx="2447567" cy="74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19"/>
              </a:lnSpc>
              <a:spcBef>
                <a:spcPts val="0"/>
              </a:spcBef>
              <a:spcAft>
                <a:spcPts val="0"/>
              </a:spcAft>
            </a:pPr>
            <a:r>
              <a:rPr sz="1599" b="0">
                <a:solidFill>
                  <a:srgbClr val="0F1108"/>
                </a:solidFill>
                <a:latin typeface="NeuralMind Sans Square"/>
              </a:rPr>
              <a:t>Recuperação em múltiplas fontes com citação do trecho exato.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6968" y="4726185"/>
            <a:ext cx="2447567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EF476F"/>
                </a:solidFill>
                <a:latin typeface="NeuralMind Sans Squar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6968" y="5038010"/>
            <a:ext cx="2447567" cy="31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2476" b="0">
                <a:solidFill>
                  <a:srgbClr val="0F1108"/>
                </a:solidFill>
                <a:latin typeface="NeuralMind Sans Square"/>
              </a:rPr>
              <a:t>Síntese contextual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6968" y="5419605"/>
            <a:ext cx="2447567" cy="507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19"/>
              </a:lnSpc>
              <a:spcBef>
                <a:spcPts val="0"/>
              </a:spcBef>
              <a:spcAft>
                <a:spcPts val="0"/>
              </a:spcAft>
            </a:pPr>
            <a:r>
              <a:rPr sz="1599" b="0">
                <a:solidFill>
                  <a:srgbClr val="0F1108"/>
                </a:solidFill>
                <a:latin typeface="NeuralMind Sans Square"/>
              </a:rPr>
              <a:t>Resposta consolidada, vinculada a cada referência.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3733" y="4726185"/>
            <a:ext cx="2447686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EF476F"/>
                </a:solidFill>
                <a:latin typeface="NeuralMind Sans Squar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3733" y="5038010"/>
            <a:ext cx="2447686" cy="31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2476" b="0">
                <a:solidFill>
                  <a:srgbClr val="0F1108"/>
                </a:solidFill>
                <a:latin typeface="NeuralMind Sans Square"/>
              </a:rPr>
              <a:t>Validação humana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3733" y="5419605"/>
            <a:ext cx="2447686" cy="507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19"/>
              </a:lnSpc>
              <a:spcBef>
                <a:spcPts val="0"/>
              </a:spcBef>
              <a:spcAft>
                <a:spcPts val="0"/>
              </a:spcAft>
            </a:pPr>
            <a:r>
              <a:rPr sz="1599" b="0">
                <a:solidFill>
                  <a:srgbClr val="0F1108"/>
                </a:solidFill>
                <a:latin typeface="NeuralMind Sans Square"/>
              </a:rPr>
              <a:t>O especialista revisa, decide e assume o controle.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029539"/>
            <a:ext cx="6421278" cy="243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8"/>
              </a:lnSpc>
              <a:spcBef>
                <a:spcPts val="0"/>
              </a:spcBef>
              <a:spcAft>
                <a:spcPts val="0"/>
              </a:spcAft>
            </a:pPr>
            <a:r>
              <a:rPr sz="1289" b="1">
                <a:solidFill>
                  <a:srgbClr val="EF476F"/>
                </a:solidFill>
                <a:latin typeface="NeuralMind Sans Square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425303"/>
            <a:ext cx="6421278" cy="1714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256"/>
              </a:lnSpc>
              <a:spcBef>
                <a:spcPts val="0"/>
              </a:spcBef>
              <a:spcAft>
                <a:spcPts val="0"/>
              </a:spcAft>
            </a:pPr>
            <a:r>
              <a:rPr sz="8256" b="0">
                <a:solidFill>
                  <a:srgbClr val="FFFFFC"/>
                </a:solidFill>
                <a:latin typeface="NeuralMind Sans Square"/>
              </a:rPr>
              <a:t>Vamos construir juntos.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0336" y="2227897"/>
            <a:ext cx="2951083" cy="235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6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9381FF"/>
                </a:solidFill>
                <a:latin typeface="NeuralMind Sans Square"/>
              </a:rPr>
              <a:t>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0336" y="2489596"/>
            <a:ext cx="2951083" cy="400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2270" b="0">
                <a:solidFill>
                  <a:srgbClr val="FFFFFC"/>
                </a:solidFill>
                <a:latin typeface="NeuralMind Sans Square"/>
              </a:rPr>
              <a:t>contato@neuralmind.ai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0336" y="3115984"/>
            <a:ext cx="2951083" cy="235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6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9381FF"/>
                </a:solidFill>
                <a:latin typeface="NeuralMind Sans Square"/>
              </a:rPr>
              <a:t>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0336" y="3377684"/>
            <a:ext cx="2951083" cy="400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2270" b="0">
                <a:solidFill>
                  <a:srgbClr val="FFFFFC"/>
                </a:solidFill>
                <a:latin typeface="NeuralMind Sans Square"/>
              </a:rPr>
              <a:t>neuralmind.ai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0336" y="4004071"/>
            <a:ext cx="2951083" cy="235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6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9381FF"/>
                </a:solidFill>
                <a:latin typeface="NeuralMind Sans Square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0336" y="4265771"/>
            <a:ext cx="2951083" cy="400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2270" b="0">
                <a:solidFill>
                  <a:srgbClr val="FFFFFC"/>
                </a:solidFill>
                <a:latin typeface="NeuralMind Sans Square"/>
              </a:rPr>
              <a:t>@neuralmind.ai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0" y="1167526"/>
            <a:ext cx="4741664" cy="27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476F"/>
                </a:solidFill>
                <a:latin typeface="NeuralMind Sans Square"/>
              </a:rPr>
              <a:t>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700807"/>
            <a:ext cx="4741664" cy="2718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C"/>
                </a:solidFill>
                <a:latin typeface="NeuralMind Sans Square"/>
              </a:rPr>
              <a:t>A IA é poderosa.</a:t>
            </a:r>
          </a:p>
          <a:p>
            <a:pPr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FFFFC"/>
                </a:solidFill>
                <a:latin typeface="NeuralMind Sans Square"/>
              </a:rPr>
              <a:t>As pessoas, indispensáveis.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4675584"/>
            <a:ext cx="4575214" cy="10513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29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FFFFC"/>
                </a:solidFill>
                <a:latin typeface="NeuralMind Sans Square"/>
              </a:rPr>
              <a:t>Construímos modelos para apoiar especialistas — não para substituí-los. A última palavra é, e segue sendo, humana.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24" y="879752"/>
            <a:ext cx="4685704" cy="27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0241"/>
                </a:solidFill>
                <a:latin typeface="NeuralMind Sans Square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24" y="1364337"/>
            <a:ext cx="4685704" cy="1686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414"/>
              </a:lnSpc>
              <a:spcBef>
                <a:spcPts val="0"/>
              </a:spcBef>
              <a:spcAft>
                <a:spcPts val="0"/>
              </a:spcAft>
            </a:pPr>
            <a:r>
              <a:rPr sz="5640" b="0">
                <a:solidFill>
                  <a:srgbClr val="0F1108"/>
                </a:solidFill>
                <a:latin typeface="NeuralMind Sans Square"/>
              </a:rPr>
              <a:t>Ciência aplicada.</a:t>
            </a:r>
          </a:p>
          <a:p>
            <a:pPr algn="l">
              <a:lnSpc>
                <a:spcPts val="5414"/>
              </a:lnSpc>
              <a:spcBef>
                <a:spcPts val="0"/>
              </a:spcBef>
              <a:spcAft>
                <a:spcPts val="0"/>
              </a:spcAft>
            </a:pPr>
            <a:r>
              <a:rPr sz="5640" b="0">
                <a:solidFill>
                  <a:srgbClr val="0F1108"/>
                </a:solidFill>
                <a:latin typeface="NeuralMind Sans Square"/>
              </a:rPr>
              <a:t>Responsabilidade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24" y="3258383"/>
            <a:ext cx="4685704" cy="168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54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F1108"/>
                </a:solidFill>
                <a:latin typeface="NeuralMind Sans Square"/>
              </a:rPr>
              <a:t>Fundada por Patricia Magalhães e Roberto Lotufo, a NeuralMind transforma pesquisa em IA responsável, auditável e confiável para organizações que lidam com alta complexidade e decisões críticas.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24" y="5228510"/>
            <a:ext cx="1732359" cy="36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90241"/>
                </a:solidFill>
                <a:latin typeface="NeuralMind Sans Square"/>
              </a:rPr>
              <a:t>RIGOR CIENTÍFICO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9372" y="5228510"/>
            <a:ext cx="2029539" cy="36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90241"/>
                </a:solidFill>
                <a:latin typeface="NeuralMind Sans Square"/>
              </a:rPr>
              <a:t>JULGAMENTO HUMANO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5645943"/>
            <a:ext cx="1916906" cy="36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90241"/>
                </a:solidFill>
                <a:latin typeface="NeuralMind Sans Square"/>
              </a:rPr>
              <a:t>SETORES REGULADOS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9594" y="5594389"/>
            <a:ext cx="2370415" cy="392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7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FFFFC"/>
                </a:solidFill>
                <a:latin typeface="NeuralMind Sans Square"/>
              </a:rPr>
              <a:t>Patricia Magalhães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9594" y="5994439"/>
            <a:ext cx="2370415" cy="209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6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F476F"/>
                </a:solidFill>
                <a:latin typeface="NeuralMind Sans Square"/>
              </a:rPr>
              <a:t>CO-FUNDADORA &amp;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4239" y="5594389"/>
            <a:ext cx="2370415" cy="392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7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FFFFC"/>
                </a:solidFill>
                <a:latin typeface="NeuralMind Sans Square"/>
              </a:rPr>
              <a:t>Roberto Lotufo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4239" y="5994439"/>
            <a:ext cx="2370415" cy="209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6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F476F"/>
                </a:solidFill>
                <a:latin typeface="NeuralMind Sans Square"/>
              </a:rPr>
              <a:t>CO-FUNDADOR &amp; 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853440"/>
            <a:ext cx="10507980" cy="27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476F"/>
                </a:solidFill>
                <a:latin typeface="NeuralMind Sans Square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338024"/>
            <a:ext cx="7735490" cy="174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</a:pPr>
            <a:r>
              <a:rPr sz="8400" b="0">
                <a:solidFill>
                  <a:srgbClr val="FFFFFC"/>
                </a:solidFill>
                <a:latin typeface="NeuralMind Sans Square"/>
              </a:rPr>
              <a:t>Vamos construir juntos.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0689" y="5324713"/>
            <a:ext cx="2709505" cy="258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18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FFFFFC"/>
                </a:solidFill>
                <a:latin typeface="NeuralMind Sans Square"/>
              </a:rPr>
              <a:t>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0689" y="5619392"/>
            <a:ext cx="2709505" cy="421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792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C"/>
                </a:solidFill>
                <a:latin typeface="NeuralMind Sans Square"/>
              </a:rPr>
              <a:t>contato@neuralmind.ai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6935" y="5324713"/>
            <a:ext cx="1594485" cy="258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18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FFFFFC"/>
                </a:solidFill>
                <a:latin typeface="NeuralMind Sans Square"/>
              </a:rPr>
              <a:t>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6935" y="5619392"/>
            <a:ext cx="1594485" cy="421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792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C"/>
                </a:solidFill>
                <a:latin typeface="NeuralMind Sans Square"/>
              </a:rPr>
              <a:t>neuralmind.ai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08" y="707112"/>
            <a:ext cx="10703242" cy="247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314" b="1">
                <a:solidFill>
                  <a:srgbClr val="290241"/>
                </a:solidFill>
                <a:latin typeface="NeuralMind Sans Square"/>
              </a:rPr>
              <a:t>PROCESSO EM 3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08" y="1323736"/>
            <a:ext cx="4589264" cy="1030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93"/>
              </a:lnSpc>
              <a:spcBef>
                <a:spcPts val="0"/>
              </a:spcBef>
              <a:spcAft>
                <a:spcPts val="0"/>
              </a:spcAft>
            </a:pPr>
            <a:r>
              <a:rPr sz="4993" b="0">
                <a:solidFill>
                  <a:srgbClr val="0F1108"/>
                </a:solidFill>
                <a:latin typeface="NeuralMind Sans Square"/>
              </a:rPr>
              <a:t>Da complexidade à decisão assistida.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7977" y="1821418"/>
            <a:ext cx="4198977" cy="5330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sz="1629" b="0">
                <a:solidFill>
                  <a:srgbClr val="0F1108"/>
                </a:solidFill>
                <a:latin typeface="NeuralMind Sans Square"/>
              </a:rPr>
              <a:t>Modelo para explicar jornadas curtas, pipelines comerciais, onboarding ou etapas de implantação.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026" y="4236124"/>
            <a:ext cx="343257" cy="356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03" b="1">
                <a:solidFill>
                  <a:srgbClr val="FFFFFC"/>
                </a:solidFill>
                <a:latin typeface="NeuralMind Sans Squar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026" y="4765714"/>
            <a:ext cx="3037284" cy="458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152"/>
              </a:lnSpc>
              <a:spcBef>
                <a:spcPts val="0"/>
              </a:spcBef>
              <a:spcAft>
                <a:spcPts val="0"/>
              </a:spcAft>
            </a:pPr>
            <a:r>
              <a:rPr sz="2628" b="0">
                <a:solidFill>
                  <a:srgbClr val="0F1108"/>
                </a:solidFill>
                <a:latin typeface="NeuralMind Sans Square"/>
              </a:rPr>
              <a:t>Mapear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026" y="5321022"/>
            <a:ext cx="3037284" cy="645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sz="1387" b="0">
                <a:solidFill>
                  <a:srgbClr val="0F1108"/>
                </a:solidFill>
                <a:latin typeface="NeuralMind Sans Square"/>
              </a:rPr>
              <a:t>Identificamos fontes, regras de negócio, usuários e pontos de decisão que exigem rastreabilidade.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8668" y="4236124"/>
            <a:ext cx="343257" cy="356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03" b="1">
                <a:solidFill>
                  <a:srgbClr val="FFFFFC"/>
                </a:solidFill>
                <a:latin typeface="NeuralMind Sans Squar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8668" y="4765714"/>
            <a:ext cx="3037403" cy="458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152"/>
              </a:lnSpc>
              <a:spcBef>
                <a:spcPts val="0"/>
              </a:spcBef>
              <a:spcAft>
                <a:spcPts val="0"/>
              </a:spcAft>
            </a:pPr>
            <a:r>
              <a:rPr sz="2628" b="0">
                <a:solidFill>
                  <a:srgbClr val="0F1108"/>
                </a:solidFill>
                <a:latin typeface="NeuralMind Sans Square"/>
              </a:rPr>
              <a:t>Construir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8668" y="5321022"/>
            <a:ext cx="3037403" cy="645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sz="1387" b="0">
                <a:solidFill>
                  <a:srgbClr val="0F1108"/>
                </a:solidFill>
                <a:latin typeface="NeuralMind Sans Square"/>
              </a:rPr>
              <a:t>Combinamos modelos especializados, busca semântica e agentes para criar uma solução sob medida.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429" y="4236124"/>
            <a:ext cx="343257" cy="356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03" b="1">
                <a:solidFill>
                  <a:srgbClr val="FFFFFC"/>
                </a:solidFill>
                <a:latin typeface="NeuralMind Sans Squar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429" y="4765714"/>
            <a:ext cx="3037284" cy="458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152"/>
              </a:lnSpc>
              <a:spcBef>
                <a:spcPts val="0"/>
              </a:spcBef>
              <a:spcAft>
                <a:spcPts val="0"/>
              </a:spcAft>
            </a:pPr>
            <a:r>
              <a:rPr sz="2628" b="0">
                <a:solidFill>
                  <a:srgbClr val="0F1108"/>
                </a:solidFill>
                <a:latin typeface="NeuralMind Sans Square"/>
              </a:rPr>
              <a:t>Validar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429" y="5321022"/>
            <a:ext cx="3037284" cy="645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sz="1387" b="0">
                <a:solidFill>
                  <a:srgbClr val="0F1108"/>
                </a:solidFill>
                <a:latin typeface="NeuralMind Sans Square"/>
              </a:rPr>
              <a:t>Especialistas revisam saídas, monitoram qualidade e transformam IA em operação confiável.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08" y="682704"/>
            <a:ext cx="10703123" cy="247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76"/>
              </a:lnSpc>
              <a:spcBef>
                <a:spcPts val="0"/>
              </a:spcBef>
              <a:spcAft>
                <a:spcPts val="0"/>
              </a:spcAft>
            </a:pPr>
            <a:r>
              <a:rPr sz="1314" b="1">
                <a:solidFill>
                  <a:srgbClr val="EF476F"/>
                </a:solidFill>
                <a:latin typeface="NeuralMind Sans Square"/>
              </a:rPr>
              <a:t>ARQUITETURA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08" y="1299329"/>
            <a:ext cx="4743569" cy="7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190"/>
              </a:lnSpc>
              <a:spcBef>
                <a:spcPts val="0"/>
              </a:spcBef>
              <a:spcAft>
                <a:spcPts val="0"/>
              </a:spcAft>
            </a:pPr>
            <a:r>
              <a:rPr sz="7989" b="0">
                <a:solidFill>
                  <a:srgbClr val="FFFFFC"/>
                </a:solidFill>
                <a:latin typeface="NeuralMind Sans Square"/>
              </a:rPr>
              <a:t>ARACI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2282" y="1462920"/>
            <a:ext cx="4567832" cy="60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65" b="0">
                <a:solidFill>
                  <a:srgbClr val="FFFFFC"/>
                </a:solidFill>
                <a:latin typeface="NeuralMind Sans Square"/>
              </a:rPr>
              <a:t>Copiloto jurídico powered by NeuralSearchX + Jurema.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607" y="2814756"/>
            <a:ext cx="1355645" cy="188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946" b="1">
                <a:solidFill>
                  <a:srgbClr val="EF476F"/>
                </a:solidFill>
                <a:latin typeface="NeuralMind Sans Square"/>
              </a:rPr>
              <a:t>PRODUTO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1860" y="3057286"/>
            <a:ext cx="1491138" cy="482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4394"/>
              </a:lnSpc>
              <a:spcBef>
                <a:spcPts val="0"/>
              </a:spcBef>
              <a:spcAft>
                <a:spcPts val="0"/>
              </a:spcAft>
            </a:pPr>
            <a:r>
              <a:rPr sz="4625" b="0">
                <a:solidFill>
                  <a:srgbClr val="FFFFFC"/>
                </a:solidFill>
                <a:latin typeface="NeuralMind Sans Square"/>
              </a:rPr>
              <a:t>ARACI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7802" y="3594377"/>
            <a:ext cx="3559254" cy="4101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314" b="0">
                <a:solidFill>
                  <a:srgbClr val="FFFFFC"/>
                </a:solidFill>
                <a:latin typeface="NeuralMind Sans Square"/>
              </a:rPr>
              <a:t>Análise, fundamentos e minutas com rastreabilidade para o trabalho jurídico.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641" y="4982289"/>
            <a:ext cx="1431012" cy="150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946" b="1">
                <a:solidFill>
                  <a:srgbClr val="9381FF"/>
                </a:solidFill>
                <a:latin typeface="NeuralMind Sans Square"/>
              </a:rPr>
              <a:t>BUSCA PROPRIETÁRIA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641" y="5219819"/>
            <a:ext cx="3126343" cy="382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4"/>
              </a:lnSpc>
              <a:spcBef>
                <a:spcPts val="0"/>
              </a:spcBef>
              <a:spcAft>
                <a:spcPts val="0"/>
              </a:spcAft>
            </a:pPr>
            <a:r>
              <a:rPr sz="2154" b="0">
                <a:solidFill>
                  <a:srgbClr val="FFFFFC"/>
                </a:solidFill>
                <a:latin typeface="NeuralMind Sans Square"/>
              </a:rPr>
              <a:t>NeuralSearchX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41" y="5645705"/>
            <a:ext cx="3126343" cy="382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1"/>
              </a:lnSpc>
              <a:spcBef>
                <a:spcPts val="0"/>
              </a:spcBef>
              <a:spcAft>
                <a:spcPts val="0"/>
              </a:spcAft>
            </a:pPr>
            <a:r>
              <a:rPr sz="1198" b="0">
                <a:solidFill>
                  <a:srgbClr val="FFFFFC"/>
                </a:solidFill>
                <a:latin typeface="NeuralMind Sans Square"/>
              </a:rPr>
              <a:t>Recupera evidências, documentos e fontes verificáveis para cada resposta.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258" y="4982289"/>
            <a:ext cx="1618178" cy="150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946" b="1">
                <a:solidFill>
                  <a:srgbClr val="9381FF"/>
                </a:solidFill>
                <a:latin typeface="NeuralMind Sans Square"/>
              </a:rPr>
              <a:t>MODELO ESPECIALIZADO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258" y="5219819"/>
            <a:ext cx="3126343" cy="382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4"/>
              </a:lnSpc>
              <a:spcBef>
                <a:spcPts val="0"/>
              </a:spcBef>
              <a:spcAft>
                <a:spcPts val="0"/>
              </a:spcAft>
            </a:pPr>
            <a:r>
              <a:rPr sz="2154" b="0">
                <a:solidFill>
                  <a:srgbClr val="FFFFFC"/>
                </a:solidFill>
                <a:latin typeface="NeuralMind Sans Square"/>
              </a:rPr>
              <a:t>Jurema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258" y="5645705"/>
            <a:ext cx="3126343" cy="382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1"/>
              </a:lnSpc>
              <a:spcBef>
                <a:spcPts val="0"/>
              </a:spcBef>
              <a:spcAft>
                <a:spcPts val="0"/>
              </a:spcAft>
            </a:pPr>
            <a:r>
              <a:rPr sz="1198" b="0">
                <a:solidFill>
                  <a:srgbClr val="FFFFFC"/>
                </a:solidFill>
                <a:latin typeface="NeuralMind Sans Square"/>
              </a:rPr>
              <a:t>LLM jurídico brasileiro para linguagem, doutrina e contexto normativo local.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8875" y="4982289"/>
            <a:ext cx="1511260" cy="150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946" b="1">
                <a:solidFill>
                  <a:srgbClr val="9381FF"/>
                </a:solidFill>
                <a:latin typeface="NeuralMind Sans Square"/>
              </a:rPr>
              <a:t>CAMADA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8875" y="5219819"/>
            <a:ext cx="3126343" cy="382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4"/>
              </a:lnSpc>
              <a:spcBef>
                <a:spcPts val="0"/>
              </a:spcBef>
              <a:spcAft>
                <a:spcPts val="0"/>
              </a:spcAft>
            </a:pPr>
            <a:r>
              <a:rPr sz="2154" b="0">
                <a:solidFill>
                  <a:srgbClr val="FFFFFC"/>
                </a:solidFill>
                <a:latin typeface="NeuralMind Sans Square"/>
              </a:rPr>
              <a:t>Agentes &amp;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875" y="5645705"/>
            <a:ext cx="3126343" cy="382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1"/>
              </a:lnSpc>
              <a:spcBef>
                <a:spcPts val="0"/>
              </a:spcBef>
              <a:spcAft>
                <a:spcPts val="0"/>
              </a:spcAft>
            </a:pPr>
            <a:r>
              <a:rPr sz="1198" b="0">
                <a:solidFill>
                  <a:srgbClr val="FFFFFC"/>
                </a:solidFill>
                <a:latin typeface="NeuralMind Sans Square"/>
              </a:rPr>
              <a:t>Orquestra tarefas, validações e próximos passos sob supervisão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Slides — NeuralMind.AI — editável</dc:title>
  <dc:subject>Fundos fiéis ao HTML/CSS com caixas de texto editáveis</dc:subject>
  <dc:creator>NeuralMind.AI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