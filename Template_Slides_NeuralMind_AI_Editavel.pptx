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 família NeuralMind Sans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975360" y="4090154"/>
            <a:ext cx="1964293" cy="2321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529"/>
              </a:lnSpc>
              <a:spcBef>
                <a:spcPts val="0"/>
              </a:spcBef>
              <a:spcAft>
                <a:spcPts val="0"/>
              </a:spcAft>
            </a:pPr>
            <a:r>
              <a:rPr sz="968" b="1" spc="213">
                <a:solidFill>
                  <a:srgbClr val="9381FF"/>
                </a:solidFill>
                <a:latin typeface="NeuralMind Sans Square"/>
              </a:rPr>
              <a:t>BRAND GUIDE DIGITAL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975360" y="5462111"/>
            <a:ext cx="3265646" cy="4586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3313"/>
              </a:lnSpc>
              <a:spcBef>
                <a:spcPts val="0"/>
              </a:spcBef>
              <a:spcAft>
                <a:spcPts val="0"/>
              </a:spcAft>
            </a:pPr>
            <a:r>
              <a:rPr sz="2097" b="0" spc="-10">
                <a:solidFill>
                  <a:srgbClr val="FFFFFC"/>
                </a:solidFill>
                <a:latin typeface="NeuralMind Sans Square"/>
              </a:rPr>
              <a:t>Inteligência para decisão.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853440" y="2227778"/>
            <a:ext cx="10515600" cy="245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32" b="1" spc="139">
                <a:solidFill>
                  <a:srgbClr val="9381FF"/>
                </a:solidFill>
                <a:latin typeface="NeuralMind Sans Square"/>
              </a:rPr>
              <a:t>CAPÍTULO 02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853440" y="2702957"/>
            <a:ext cx="9166384" cy="8245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6192"/>
              </a:lnSpc>
              <a:spcBef>
                <a:spcPts val="0"/>
              </a:spcBef>
              <a:spcAft>
                <a:spcPts val="0"/>
              </a:spcAft>
            </a:pPr>
            <a:r>
              <a:rPr sz="6192" b="0" spc="-149">
                <a:solidFill>
                  <a:srgbClr val="FFFFFC"/>
                </a:solidFill>
                <a:latin typeface="NeuralMind Sans Square"/>
              </a:rPr>
              <a:t>Arquitetura de Produtos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853440" y="3757493"/>
            <a:ext cx="5166241" cy="9107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291"/>
              </a:lnSpc>
              <a:spcBef>
                <a:spcPts val="0"/>
              </a:spcBef>
              <a:spcAft>
                <a:spcPts val="0"/>
              </a:spcAft>
            </a:pPr>
            <a:r>
              <a:rPr sz="1527" b="0">
                <a:solidFill>
                  <a:srgbClr val="FFFFFC"/>
                </a:solidFill>
                <a:latin typeface="NeuralMind Sans Square"/>
              </a:rPr>
              <a:t>Diferentes produtos, uma mesma capacidade: transformar complexidade em inteligência para decisão.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755809" y="755809"/>
            <a:ext cx="10710743" cy="24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</a:pPr>
            <a:r>
              <a:rPr sz="1051" b="1" spc="142">
                <a:solidFill>
                  <a:srgbClr val="EF476F"/>
                </a:solidFill>
                <a:latin typeface="NeuralMind Sans Square"/>
              </a:rPr>
              <a:t>VERTICAIS DE ATUAÇÃO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755809" y="1393865"/>
            <a:ext cx="5031938" cy="15136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3874"/>
              </a:lnSpc>
              <a:spcBef>
                <a:spcPts val="0"/>
              </a:spcBef>
              <a:spcAft>
                <a:spcPts val="0"/>
              </a:spcAft>
            </a:pPr>
            <a:r>
              <a:rPr sz="3953" b="0" spc="-87">
                <a:solidFill>
                  <a:srgbClr val="FFFFFC"/>
                </a:solidFill>
                <a:latin typeface="NeuralMind Sans Square"/>
              </a:rPr>
              <a:t>Decision Intelligence onde cada decisão importa.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184463" y="2076450"/>
            <a:ext cx="4696182" cy="8310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081"/>
              </a:lnSpc>
              <a:spcBef>
                <a:spcPts val="0"/>
              </a:spcBef>
              <a:spcAft>
                <a:spcPts val="0"/>
              </a:spcAft>
            </a:pPr>
            <a:r>
              <a:rPr sz="1388" b="0">
                <a:solidFill>
                  <a:srgbClr val="FFFFFC"/>
                </a:solidFill>
                <a:latin typeface="NeuralMind Sans Square"/>
              </a:rPr>
              <a:t>Do jurídico à saúde, a NeuralMind organiza informação complexa para apoiar especialistas com contexto, fontes verificáveis e supervisão humana.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987623" y="3592830"/>
            <a:ext cx="3027283" cy="2152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</a:pPr>
            <a:r>
              <a:rPr sz="883" b="1" spc="159">
                <a:solidFill>
                  <a:srgbClr val="EF476F"/>
                </a:solidFill>
                <a:latin typeface="NeuralMind Sans Square"/>
              </a:rPr>
              <a:t>01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987623" y="3898106"/>
            <a:ext cx="3027283" cy="40921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92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spc="-19">
                <a:solidFill>
                  <a:srgbClr val="FFFFFC"/>
                </a:solidFill>
                <a:latin typeface="NeuralMind Sans Square"/>
              </a:rPr>
              <a:t>Inteligência fundamental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987623" y="4397335"/>
            <a:ext cx="3027283" cy="6324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NeuralMind Sans Square"/>
              </a:rPr>
              <a:t>Transforma documentos, bases internas e informação não estruturada em conhecimento verificável para decidir.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987623" y="5637371"/>
            <a:ext cx="962025" cy="2711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1" spc="44">
                <a:solidFill>
                  <a:srgbClr val="FFFFFC"/>
                </a:solidFill>
                <a:latin typeface="NeuralMind Sans Square"/>
              </a:rPr>
              <a:t>NeuralSearchX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1977866" y="5637371"/>
            <a:ext cx="530304" cy="2711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1" spc="44">
                <a:solidFill>
                  <a:srgbClr val="FFFFFC"/>
                </a:solidFill>
                <a:latin typeface="NeuralMind Sans Square"/>
              </a:rPr>
              <a:t>NDocs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2536388" y="5637371"/>
            <a:ext cx="809625" cy="2711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1" spc="44">
                <a:solidFill>
                  <a:srgbClr val="FFFFFC"/>
                </a:solidFill>
                <a:latin typeface="NeuralMind Sans Square"/>
              </a:rPr>
              <a:t>Tuss-Finder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4597479" y="3592830"/>
            <a:ext cx="3027402" cy="2152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</a:pPr>
            <a:r>
              <a:rPr sz="883" b="1" spc="159">
                <a:solidFill>
                  <a:srgbClr val="EF476F"/>
                </a:solidFill>
                <a:latin typeface="NeuralMind Sans Square"/>
              </a:rPr>
              <a:t>02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4597479" y="3898106"/>
            <a:ext cx="3027402" cy="780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92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spc="-19">
                <a:solidFill>
                  <a:srgbClr val="FFFFFC"/>
                </a:solidFill>
                <a:latin typeface="NeuralMind Sans Square"/>
              </a:rPr>
              <a:t>Jurídico, regulação e controle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4597479" y="4768453"/>
            <a:ext cx="3027402" cy="6324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NeuralMind Sans Square"/>
              </a:rPr>
              <a:t>Apoia análise, fundamentação e formação de convicção em contextos jurídicos, regulatórios e de controle.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4597479" y="5637371"/>
            <a:ext cx="574477" cy="2711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1" spc="44">
                <a:solidFill>
                  <a:srgbClr val="FFFFFC"/>
                </a:solidFill>
                <a:latin typeface="NeuralMind Sans Square"/>
              </a:rPr>
              <a:t>Jurema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200174" y="5637371"/>
            <a:ext cx="465653" cy="2711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1" spc="44">
                <a:solidFill>
                  <a:srgbClr val="FFFFFC"/>
                </a:solidFill>
                <a:latin typeface="NeuralMind Sans Square"/>
              </a:rPr>
              <a:t>Araci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5694045" y="5637371"/>
            <a:ext cx="655201" cy="2711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1" spc="44">
                <a:solidFill>
                  <a:srgbClr val="FFFFFC"/>
                </a:solidFill>
                <a:latin typeface="NeuralMind Sans Square"/>
              </a:rPr>
              <a:t>AssertIA</a:t>
            </a:r>
          </a:p>
        </p:txBody>
      </p:sp>
      <p:sp>
        <p:nvSpPr>
          <p:cNvPr id="18" name="Text 16"/>
          <p:cNvSpPr txBox="1"/>
          <p:nvPr/>
        </p:nvSpPr>
        <p:spPr>
          <a:xfrm>
            <a:off x="6377464" y="5637371"/>
            <a:ext cx="494348" cy="2711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1" spc="44">
                <a:solidFill>
                  <a:srgbClr val="FFFFFC"/>
                </a:solidFill>
                <a:latin typeface="NeuralMind Sans Square"/>
              </a:rPr>
              <a:t>SofIA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8207454" y="3592830"/>
            <a:ext cx="3027283" cy="2152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</a:pPr>
            <a:r>
              <a:rPr sz="883" b="1" spc="159">
                <a:solidFill>
                  <a:srgbClr val="EF476F"/>
                </a:solidFill>
                <a:latin typeface="NeuralMind Sans Square"/>
              </a:rPr>
              <a:t>03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8207454" y="3898106"/>
            <a:ext cx="3027283" cy="40921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92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spc="-19">
                <a:solidFill>
                  <a:srgbClr val="FFFFFC"/>
                </a:solidFill>
                <a:latin typeface="NeuralMind Sans Square"/>
              </a:rPr>
              <a:t>Saúde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8207454" y="4397335"/>
            <a:ext cx="3027283" cy="6324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FFFFC"/>
                </a:solidFill>
                <a:latin typeface="NeuralMind Sans Square"/>
              </a:rPr>
              <a:t>Apoia a priorização clínica para que especialistas direcionem atenção aos casos que podem precisar dela primeiro.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8207454" y="5637371"/>
            <a:ext cx="652939" cy="2711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740"/>
              </a:lnSpc>
              <a:spcBef>
                <a:spcPts val="0"/>
              </a:spcBef>
              <a:spcAft>
                <a:spcPts val="0"/>
              </a:spcAft>
            </a:pPr>
            <a:r>
              <a:rPr sz="740" b="1" spc="44">
                <a:solidFill>
                  <a:srgbClr val="FFFFFC"/>
                </a:solidFill>
                <a:latin typeface="NeuralMind Sans Square"/>
              </a:rPr>
              <a:t>PrioScan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731520" y="1385530"/>
            <a:ext cx="4357330" cy="249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68"/>
              </a:lnSpc>
              <a:spcBef>
                <a:spcPts val="0"/>
              </a:spcBef>
              <a:spcAft>
                <a:spcPts val="0"/>
              </a:spcAft>
            </a:pPr>
            <a:r>
              <a:rPr sz="1056" b="1" spc="143">
                <a:solidFill>
                  <a:srgbClr val="290241"/>
                </a:solidFill>
                <a:latin typeface="NeuralMind Sans Square"/>
              </a:rPr>
              <a:t>PRODUTO EXEMPLO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731520" y="1763554"/>
            <a:ext cx="4357330" cy="63531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4704"/>
              </a:lnSpc>
              <a:spcBef>
                <a:spcPts val="0"/>
              </a:spcBef>
              <a:spcAft>
                <a:spcPts val="0"/>
              </a:spcAft>
            </a:pPr>
            <a:r>
              <a:rPr sz="4900" b="0" spc="-108">
                <a:solidFill>
                  <a:srgbClr val="0F1108"/>
                </a:solidFill>
                <a:latin typeface="NeuralMind Sans Square"/>
              </a:rPr>
              <a:t>NeuralSearchX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731520" y="2526982"/>
            <a:ext cx="4245173" cy="56959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093"/>
              </a:lnSpc>
              <a:spcBef>
                <a:spcPts val="0"/>
              </a:spcBef>
              <a:spcAft>
                <a:spcPts val="0"/>
              </a:spcAft>
            </a:pPr>
            <a:r>
              <a:rPr sz="1774" b="0" spc="-18">
                <a:solidFill>
                  <a:srgbClr val="290241"/>
                </a:solidFill>
                <a:latin typeface="NeuralMind Sans Square"/>
              </a:rPr>
              <a:t>Conhecimento organizacional pronto para entrar na decisão.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731520" y="3224689"/>
            <a:ext cx="3783806" cy="990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233" b="0">
                <a:solidFill>
                  <a:srgbClr val="0F1108"/>
                </a:solidFill>
                <a:latin typeface="NeuralMind Sans Square"/>
              </a:rPr>
              <a:t>A busca conversacional encontra respostas em bases internas e mantém o trecho original à vista. Quem decide pode verificar, aprofundar e seguir com mais confiança.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1203484" y="4514136"/>
            <a:ext cx="3885367" cy="198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426"/>
              </a:lnSpc>
              <a:spcBef>
                <a:spcPts val="0"/>
              </a:spcBef>
              <a:spcAft>
                <a:spcPts val="0"/>
              </a:spcAft>
            </a:pPr>
            <a:r>
              <a:rPr sz="1056" b="0">
                <a:solidFill>
                  <a:srgbClr val="0F1108"/>
                </a:solidFill>
                <a:latin typeface="NeuralMind Sans Square"/>
              </a:rPr>
              <a:t>Busca semântica multifonte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731520" y="4536996"/>
            <a:ext cx="373737" cy="17561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sz="803" b="1" spc="96">
                <a:solidFill>
                  <a:srgbClr val="EF476F"/>
                </a:solidFill>
                <a:latin typeface="NeuralMind Sans Square"/>
              </a:rPr>
              <a:t>01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1203484" y="4906566"/>
            <a:ext cx="3885367" cy="198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426"/>
              </a:lnSpc>
              <a:spcBef>
                <a:spcPts val="0"/>
              </a:spcBef>
              <a:spcAft>
                <a:spcPts val="0"/>
              </a:spcAft>
            </a:pPr>
            <a:r>
              <a:rPr sz="1056" b="0">
                <a:solidFill>
                  <a:srgbClr val="0F1108"/>
                </a:solidFill>
                <a:latin typeface="NeuralMind Sans Square"/>
              </a:rPr>
              <a:t>Citação do trecho original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731520" y="4929426"/>
            <a:ext cx="373737" cy="17561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sz="803" b="1" spc="96">
                <a:solidFill>
                  <a:srgbClr val="EF476F"/>
                </a:solidFill>
                <a:latin typeface="NeuralMind Sans Square"/>
              </a:rPr>
              <a:t>02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1203484" y="5298996"/>
            <a:ext cx="3885367" cy="198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426"/>
              </a:lnSpc>
              <a:spcBef>
                <a:spcPts val="0"/>
              </a:spcBef>
              <a:spcAft>
                <a:spcPts val="0"/>
              </a:spcAft>
            </a:pPr>
            <a:r>
              <a:rPr sz="1056" b="0">
                <a:solidFill>
                  <a:srgbClr val="0F1108"/>
                </a:solidFill>
                <a:latin typeface="NeuralMind Sans Square"/>
              </a:rPr>
              <a:t>Validação humana no fluxo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731520" y="5321856"/>
            <a:ext cx="373737" cy="17561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sz="803" b="1" spc="96">
                <a:solidFill>
                  <a:srgbClr val="EF476F"/>
                </a:solidFill>
                <a:latin typeface="NeuralMind Sans Square"/>
              </a:rPr>
              <a:t>03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6060281" y="2182297"/>
            <a:ext cx="4989552" cy="17704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095"/>
              </a:lnSpc>
              <a:spcBef>
                <a:spcPts val="0"/>
              </a:spcBef>
              <a:spcAft>
                <a:spcPts val="0"/>
              </a:spcAft>
            </a:pPr>
            <a:r>
              <a:rPr sz="693" b="1" spc="111">
                <a:solidFill>
                  <a:srgbClr val="290241"/>
                </a:solidFill>
                <a:latin typeface="NeuralMind Sans Square"/>
              </a:rPr>
              <a:t>CONSULTA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6060281" y="2385536"/>
            <a:ext cx="4989552" cy="3008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069"/>
              </a:lnSpc>
              <a:spcBef>
                <a:spcPts val="0"/>
              </a:spcBef>
              <a:spcAft>
                <a:spcPts val="0"/>
              </a:spcAft>
            </a:pPr>
            <a:r>
              <a:rPr sz="1309" b="0" spc="-7">
                <a:solidFill>
                  <a:srgbClr val="0F1108"/>
                </a:solidFill>
                <a:latin typeface="NeuralMind Sans Square"/>
              </a:rPr>
              <a:t>Quais contratos exigem revisão regulatória?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6076355" y="3081814"/>
            <a:ext cx="4957405" cy="17704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095"/>
              </a:lnSpc>
              <a:spcBef>
                <a:spcPts val="0"/>
              </a:spcBef>
              <a:spcAft>
                <a:spcPts val="0"/>
              </a:spcAft>
            </a:pPr>
            <a:r>
              <a:rPr sz="693" b="1" spc="111">
                <a:solidFill>
                  <a:srgbClr val="290241"/>
                </a:solidFill>
                <a:latin typeface="NeuralMind Sans Square"/>
              </a:rPr>
              <a:t>RESPOSTA COM FONTE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6076355" y="3301127"/>
            <a:ext cx="4957405" cy="40505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445"/>
              </a:lnSpc>
              <a:spcBef>
                <a:spcPts val="0"/>
              </a:spcBef>
              <a:spcAft>
                <a:spcPts val="0"/>
              </a:spcAft>
            </a:pPr>
            <a:r>
              <a:rPr sz="997" b="0">
                <a:solidFill>
                  <a:srgbClr val="0F1108"/>
                </a:solidFill>
                <a:latin typeface="NeuralMind Sans Square"/>
              </a:rPr>
              <a:t>Foram identificados três documentos com cláusulas de atualização regulatória e prazo de revisão em aberto.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6033492" y="4691539"/>
            <a:ext cx="2373630" cy="17704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095"/>
              </a:lnSpc>
              <a:spcBef>
                <a:spcPts val="0"/>
              </a:spcBef>
              <a:spcAft>
                <a:spcPts val="0"/>
              </a:spcAft>
            </a:pPr>
            <a:r>
              <a:rPr sz="693" b="1" spc="111">
                <a:solidFill>
                  <a:srgbClr val="290241"/>
                </a:solidFill>
                <a:latin typeface="NeuralMind Sans Square"/>
              </a:rPr>
              <a:t>FONTE 01</a:t>
            </a:r>
          </a:p>
        </p:txBody>
      </p:sp>
      <p:sp>
        <p:nvSpPr>
          <p:cNvPr id="18" name="Text 16"/>
          <p:cNvSpPr txBox="1"/>
          <p:nvPr/>
        </p:nvSpPr>
        <p:spPr>
          <a:xfrm>
            <a:off x="6033492" y="4884063"/>
            <a:ext cx="2373630" cy="1825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137"/>
              </a:lnSpc>
              <a:spcBef>
                <a:spcPts val="0"/>
              </a:spcBef>
              <a:spcAft>
                <a:spcPts val="0"/>
              </a:spcAft>
            </a:pPr>
            <a:r>
              <a:rPr sz="862" b="1">
                <a:solidFill>
                  <a:srgbClr val="290241"/>
                </a:solidFill>
                <a:latin typeface="NeuralMind Sans Square"/>
              </a:rPr>
              <a:t>Contrato matriz · pág. 14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8702992" y="4691539"/>
            <a:ext cx="2373630" cy="17704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095"/>
              </a:lnSpc>
              <a:spcBef>
                <a:spcPts val="0"/>
              </a:spcBef>
              <a:spcAft>
                <a:spcPts val="0"/>
              </a:spcAft>
            </a:pPr>
            <a:r>
              <a:rPr sz="693" b="1" spc="111">
                <a:solidFill>
                  <a:srgbClr val="290241"/>
                </a:solidFill>
                <a:latin typeface="NeuralMind Sans Square"/>
              </a:rPr>
              <a:t>FONTE 02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8702992" y="4884063"/>
            <a:ext cx="2373630" cy="18252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137"/>
              </a:lnSpc>
              <a:spcBef>
                <a:spcPts val="0"/>
              </a:spcBef>
              <a:spcAft>
                <a:spcPts val="0"/>
              </a:spcAft>
            </a:pPr>
            <a:r>
              <a:rPr sz="862" b="1">
                <a:solidFill>
                  <a:srgbClr val="290241"/>
                </a:solidFill>
                <a:latin typeface="NeuralMind Sans Square"/>
              </a:rPr>
              <a:t>Anexo jurídico · pág.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853440" y="2409349"/>
            <a:ext cx="9125188" cy="155721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3988"/>
              </a:lnSpc>
              <a:spcBef>
                <a:spcPts val="0"/>
              </a:spcBef>
              <a:spcAft>
                <a:spcPts val="0"/>
              </a:spcAft>
            </a:pPr>
            <a:r>
              <a:rPr sz="3468" b="0" spc="-62">
                <a:solidFill>
                  <a:srgbClr val="0F1108"/>
                </a:solidFill>
                <a:latin typeface="NeuralMind Sans Square"/>
              </a:rPr>
              <a:t>A tecnologia organiza e sugere.</a:t>
            </a:r>
          </a:p>
          <a:p>
            <a:pPr algn="l">
              <a:lnSpc>
                <a:spcPts val="3988"/>
              </a:lnSpc>
              <a:spcBef>
                <a:spcPts val="0"/>
              </a:spcBef>
              <a:spcAft>
                <a:spcPts val="0"/>
              </a:spcAft>
            </a:pPr>
            <a:r>
              <a:rPr sz="3468" b="0" spc="-62">
                <a:solidFill>
                  <a:srgbClr val="0F1108"/>
                </a:solidFill>
                <a:latin typeface="NeuralMind Sans Square"/>
              </a:rPr>
              <a:t>O especialista compreende, decide e assume o controle.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853440" y="4233267"/>
            <a:ext cx="10515600" cy="2534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96"/>
              </a:lnSpc>
              <a:spcBef>
                <a:spcPts val="0"/>
              </a:spcBef>
              <a:spcAft>
                <a:spcPts val="0"/>
              </a:spcAft>
            </a:pPr>
            <a:r>
              <a:rPr sz="1073" b="1" spc="193">
                <a:solidFill>
                  <a:srgbClr val="290241"/>
                </a:solidFill>
                <a:latin typeface="NeuralMind Sans Square"/>
              </a:rPr>
              <a:t>MANIFESTO NEURALMIND.AI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853440" y="2339578"/>
            <a:ext cx="4014788" cy="245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32" b="1" spc="139">
                <a:solidFill>
                  <a:srgbClr val="290241"/>
                </a:solidFill>
                <a:latin typeface="NeuralMind Sans Square"/>
              </a:rPr>
              <a:t>POSICIONAMENTO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853440" y="2735342"/>
            <a:ext cx="4014788" cy="18211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4681"/>
              </a:lnSpc>
              <a:spcBef>
                <a:spcPts val="0"/>
              </a:spcBef>
              <a:spcAft>
                <a:spcPts val="0"/>
              </a:spcAft>
            </a:pPr>
            <a:r>
              <a:rPr sz="4458" b="0" spc="-98">
                <a:solidFill>
                  <a:srgbClr val="0F1108"/>
                </a:solidFill>
                <a:latin typeface="NeuralMind Sans Square"/>
              </a:rPr>
              <a:t>Confiança que pode ser verificada.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5569268" y="2099905"/>
            <a:ext cx="554712" cy="2508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76"/>
              </a:lnSpc>
              <a:spcBef>
                <a:spcPts val="0"/>
              </a:spcBef>
              <a:spcAft>
                <a:spcPts val="0"/>
              </a:spcAft>
            </a:pPr>
            <a:r>
              <a:rPr sz="1197" b="1" spc="144">
                <a:solidFill>
                  <a:srgbClr val="EF476F"/>
                </a:solidFill>
                <a:latin typeface="NeuralMind Sans Square"/>
              </a:rPr>
              <a:t>01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303169" y="2038945"/>
            <a:ext cx="5065871" cy="6103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254"/>
              </a:lnSpc>
              <a:spcBef>
                <a:spcPts val="0"/>
              </a:spcBef>
              <a:spcAft>
                <a:spcPts val="0"/>
              </a:spcAft>
            </a:pPr>
            <a:r>
              <a:rPr sz="1610" b="0">
                <a:solidFill>
                  <a:srgbClr val="0F1108"/>
                </a:solidFill>
                <a:latin typeface="NeuralMind Sans Square"/>
              </a:rPr>
              <a:t>Cada resposta carrega o trecho exato que a fundamenta.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5569268" y="3203853"/>
            <a:ext cx="554712" cy="2508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76"/>
              </a:lnSpc>
              <a:spcBef>
                <a:spcPts val="0"/>
              </a:spcBef>
              <a:spcAft>
                <a:spcPts val="0"/>
              </a:spcAft>
            </a:pPr>
            <a:r>
              <a:rPr sz="1197" b="1" spc="144">
                <a:solidFill>
                  <a:srgbClr val="EF476F"/>
                </a:solidFill>
                <a:latin typeface="NeuralMind Sans Square"/>
              </a:rPr>
              <a:t>02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6303169" y="3142893"/>
            <a:ext cx="5065871" cy="6103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254"/>
              </a:lnSpc>
              <a:spcBef>
                <a:spcPts val="0"/>
              </a:spcBef>
              <a:spcAft>
                <a:spcPts val="0"/>
              </a:spcAft>
            </a:pPr>
            <a:r>
              <a:rPr sz="1610" b="0">
                <a:solidFill>
                  <a:srgbClr val="0F1108"/>
                </a:solidFill>
                <a:latin typeface="NeuralMind Sans Square"/>
              </a:rPr>
              <a:t>Modelos especializados em domínio — não generalistas.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5569268" y="4307800"/>
            <a:ext cx="554712" cy="2508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76"/>
              </a:lnSpc>
              <a:spcBef>
                <a:spcPts val="0"/>
              </a:spcBef>
              <a:spcAft>
                <a:spcPts val="0"/>
              </a:spcAft>
            </a:pPr>
            <a:r>
              <a:rPr sz="1197" b="1" spc="144">
                <a:solidFill>
                  <a:srgbClr val="EF476F"/>
                </a:solidFill>
                <a:latin typeface="NeuralMind Sans Square"/>
              </a:rPr>
              <a:t>03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6303169" y="4246840"/>
            <a:ext cx="5065871" cy="6103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254"/>
              </a:lnSpc>
              <a:spcBef>
                <a:spcPts val="0"/>
              </a:spcBef>
              <a:spcAft>
                <a:spcPts val="0"/>
              </a:spcAft>
            </a:pPr>
            <a:r>
              <a:rPr sz="1610" b="0">
                <a:solidFill>
                  <a:srgbClr val="0F1108"/>
                </a:solidFill>
                <a:latin typeface="NeuralMind Sans Square"/>
              </a:rPr>
              <a:t>Operação auditável e em conformidade com a LGPD.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853440" y="1521976"/>
            <a:ext cx="4645342" cy="2700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826"/>
              </a:lnSpc>
              <a:spcBef>
                <a:spcPts val="0"/>
              </a:spcBef>
              <a:spcAft>
                <a:spcPts val="0"/>
              </a:spcAft>
            </a:pPr>
            <a:r>
              <a:rPr sz="1156" b="1" spc="208">
                <a:solidFill>
                  <a:srgbClr val="9381FF"/>
                </a:solidFill>
                <a:latin typeface="NeuralMind Sans Square"/>
              </a:rPr>
              <a:t>RESULTADO · NEURALSEARCHX 2.0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853440" y="1491972"/>
            <a:ext cx="1581269" cy="30861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7437"/>
              </a:lnSpc>
              <a:spcBef>
                <a:spcPts val="0"/>
              </a:spcBef>
              <a:spcAft>
                <a:spcPts val="0"/>
              </a:spcAft>
            </a:pPr>
            <a:r>
              <a:rPr sz="19814" b="0" spc="-793">
                <a:solidFill>
                  <a:srgbClr val="FFFFFC"/>
                </a:solidFill>
                <a:latin typeface="NeuralMind Sans Square"/>
              </a:rPr>
              <a:t>4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2509004" y="2749272"/>
            <a:ext cx="909638" cy="13298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0171"/>
              </a:lnSpc>
              <a:spcBef>
                <a:spcPts val="0"/>
              </a:spcBef>
              <a:spcAft>
                <a:spcPts val="0"/>
              </a:spcAft>
            </a:pPr>
            <a:r>
              <a:rPr sz="11558" b="0" spc="-793">
                <a:solidFill>
                  <a:srgbClr val="EF476F"/>
                </a:solidFill>
                <a:latin typeface="NeuralMind Sans Square"/>
              </a:rPr>
              <a:t>×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853440" y="4439722"/>
            <a:ext cx="4645342" cy="9342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353"/>
              </a:lnSpc>
              <a:spcBef>
                <a:spcPts val="0"/>
              </a:spcBef>
              <a:spcAft>
                <a:spcPts val="0"/>
              </a:spcAft>
            </a:pPr>
            <a:r>
              <a:rPr sz="1569" b="0">
                <a:solidFill>
                  <a:srgbClr val="FFFFFC"/>
                </a:solidFill>
                <a:latin typeface="NeuralMind Sans Square"/>
              </a:rPr>
              <a:t>Redução de latência da busca semântica multifonte na nova arquitetura, sem perda de citação ou rastreabilidade.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853440" y="731520"/>
            <a:ext cx="10515600" cy="245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32" b="1" spc="139">
                <a:solidFill>
                  <a:srgbClr val="290241"/>
                </a:solidFill>
                <a:latin typeface="NeuralMind Sans Square"/>
              </a:rPr>
              <a:t>FLUXO DE TRABALHO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853440" y="1085255"/>
            <a:ext cx="7609642" cy="4785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3468"/>
              </a:lnSpc>
              <a:spcBef>
                <a:spcPts val="0"/>
              </a:spcBef>
              <a:spcAft>
                <a:spcPts val="0"/>
              </a:spcAft>
            </a:pPr>
            <a:r>
              <a:rPr sz="3302" b="0" spc="-73">
                <a:solidFill>
                  <a:srgbClr val="0F1108"/>
                </a:solidFill>
                <a:latin typeface="NeuralMind Sans Square"/>
              </a:rPr>
              <a:t>Da pergunta à decisão auditável.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853440" y="4726186"/>
            <a:ext cx="2455188" cy="245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32" b="1" spc="165">
                <a:solidFill>
                  <a:srgbClr val="EF476F"/>
                </a:solidFill>
                <a:latin typeface="NeuralMind Sans Square"/>
              </a:rPr>
              <a:t>01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853440" y="5038011"/>
            <a:ext cx="2455188" cy="314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</a:pPr>
            <a:r>
              <a:rPr sz="1981" b="0" spc="-16">
                <a:solidFill>
                  <a:srgbClr val="0F1108"/>
                </a:solidFill>
                <a:latin typeface="NeuralMind Sans Square"/>
              </a:rPr>
              <a:t>Pergunta natural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853440" y="5419606"/>
            <a:ext cx="2455188" cy="74497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856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0F1108"/>
                </a:solidFill>
                <a:latin typeface="NeuralMind Sans Square"/>
              </a:rPr>
              <a:t>O usuário descreve a necessidade em linguagem comum.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3540204" y="4726186"/>
            <a:ext cx="2455188" cy="245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32" b="1" spc="165">
                <a:solidFill>
                  <a:srgbClr val="EF476F"/>
                </a:solidFill>
                <a:latin typeface="NeuralMind Sans Square"/>
              </a:rPr>
              <a:t>02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3540204" y="5038011"/>
            <a:ext cx="2455188" cy="314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</a:pPr>
            <a:r>
              <a:rPr sz="1981" b="0" spc="-16">
                <a:solidFill>
                  <a:srgbClr val="0F1108"/>
                </a:solidFill>
                <a:latin typeface="NeuralMind Sans Square"/>
              </a:rPr>
              <a:t>Busca semântica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3540204" y="5419606"/>
            <a:ext cx="2455188" cy="74497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856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0F1108"/>
                </a:solidFill>
                <a:latin typeface="NeuralMind Sans Square"/>
              </a:rPr>
              <a:t>Recuperação em múltiplas fontes com citação do trecho exato.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6226969" y="4726186"/>
            <a:ext cx="2455188" cy="245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32" b="1" spc="165">
                <a:solidFill>
                  <a:srgbClr val="EF476F"/>
                </a:solidFill>
                <a:latin typeface="NeuralMind Sans Square"/>
              </a:rPr>
              <a:t>03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6226969" y="5038011"/>
            <a:ext cx="2455188" cy="314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</a:pPr>
            <a:r>
              <a:rPr sz="1981" b="0" spc="-16">
                <a:solidFill>
                  <a:srgbClr val="0F1108"/>
                </a:solidFill>
                <a:latin typeface="NeuralMind Sans Square"/>
              </a:rPr>
              <a:t>Síntese contextual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6226969" y="5419606"/>
            <a:ext cx="2455188" cy="5093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856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0F1108"/>
                </a:solidFill>
                <a:latin typeface="NeuralMind Sans Square"/>
              </a:rPr>
              <a:t>Resposta consolidada, vinculada a cada referência.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8913733" y="4726186"/>
            <a:ext cx="2455307" cy="245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32" b="1" spc="165">
                <a:solidFill>
                  <a:srgbClr val="EF476F"/>
                </a:solidFill>
                <a:latin typeface="NeuralMind Sans Square"/>
              </a:rPr>
              <a:t>04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8913733" y="5038011"/>
            <a:ext cx="2455307" cy="314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180"/>
              </a:lnSpc>
              <a:spcBef>
                <a:spcPts val="0"/>
              </a:spcBef>
              <a:spcAft>
                <a:spcPts val="0"/>
              </a:spcAft>
            </a:pPr>
            <a:r>
              <a:rPr sz="1981" b="0" spc="-16">
                <a:solidFill>
                  <a:srgbClr val="0F1108"/>
                </a:solidFill>
                <a:latin typeface="NeuralMind Sans Square"/>
              </a:rPr>
              <a:t>Validação humana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8913733" y="5419606"/>
            <a:ext cx="2455307" cy="50934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856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0F1108"/>
                </a:solidFill>
                <a:latin typeface="NeuralMind Sans Square"/>
              </a:rPr>
              <a:t>O especialista revisa, decide e assume o controle.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853440" y="2084308"/>
            <a:ext cx="6428899" cy="2451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32" b="1" spc="139">
                <a:solidFill>
                  <a:srgbClr val="EF476F"/>
                </a:solidFill>
                <a:latin typeface="NeuralMind Sans Square"/>
              </a:rPr>
              <a:t>PRÓXIMO PASSO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853440" y="2480072"/>
            <a:ext cx="6428899" cy="171569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6605"/>
              </a:lnSpc>
              <a:spcBef>
                <a:spcPts val="0"/>
              </a:spcBef>
              <a:spcAft>
                <a:spcPts val="0"/>
              </a:spcAft>
            </a:pPr>
            <a:r>
              <a:rPr sz="6605" b="0" spc="-159">
                <a:solidFill>
                  <a:srgbClr val="FFFFFC"/>
                </a:solidFill>
                <a:latin typeface="NeuralMind Sans Square"/>
              </a:rPr>
              <a:t>Vamos construir juntos.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8410337" y="2227898"/>
            <a:ext cx="2958703" cy="2369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565"/>
              </a:lnSpc>
              <a:spcBef>
                <a:spcPts val="0"/>
              </a:spcBef>
              <a:spcAft>
                <a:spcPts val="0"/>
              </a:spcAft>
            </a:pPr>
            <a:r>
              <a:rPr sz="991" b="1" spc="178">
                <a:solidFill>
                  <a:srgbClr val="9381FF"/>
                </a:solidFill>
                <a:latin typeface="NeuralMind Sans Square"/>
              </a:rPr>
              <a:t>COMERCIAL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8410337" y="2489597"/>
            <a:ext cx="2958703" cy="4024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870"/>
              </a:lnSpc>
              <a:spcBef>
                <a:spcPts val="0"/>
              </a:spcBef>
              <a:spcAft>
                <a:spcPts val="0"/>
              </a:spcAft>
            </a:pPr>
            <a:r>
              <a:rPr sz="1816" b="0" spc="-9">
                <a:solidFill>
                  <a:srgbClr val="FFFFFC"/>
                </a:solidFill>
                <a:latin typeface="NeuralMind Sans Square"/>
              </a:rPr>
              <a:t>contato@neuralmind.ai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8410337" y="3115985"/>
            <a:ext cx="2958703" cy="2369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565"/>
              </a:lnSpc>
              <a:spcBef>
                <a:spcPts val="0"/>
              </a:spcBef>
              <a:spcAft>
                <a:spcPts val="0"/>
              </a:spcAft>
            </a:pPr>
            <a:r>
              <a:rPr sz="991" b="1" spc="178">
                <a:solidFill>
                  <a:srgbClr val="9381FF"/>
                </a:solidFill>
                <a:latin typeface="NeuralMind Sans Square"/>
              </a:rPr>
              <a:t>WEB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8410337" y="3377684"/>
            <a:ext cx="2958703" cy="4024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870"/>
              </a:lnSpc>
              <a:spcBef>
                <a:spcPts val="0"/>
              </a:spcBef>
              <a:spcAft>
                <a:spcPts val="0"/>
              </a:spcAft>
            </a:pPr>
            <a:r>
              <a:rPr sz="1816" b="0" spc="-9">
                <a:solidFill>
                  <a:srgbClr val="FFFFFC"/>
                </a:solidFill>
                <a:latin typeface="NeuralMind Sans Square"/>
              </a:rPr>
              <a:t>neuralmind.ai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8410337" y="4004072"/>
            <a:ext cx="2958703" cy="2369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565"/>
              </a:lnSpc>
              <a:spcBef>
                <a:spcPts val="0"/>
              </a:spcBef>
              <a:spcAft>
                <a:spcPts val="0"/>
              </a:spcAft>
            </a:pPr>
            <a:r>
              <a:rPr sz="991" b="1" spc="178">
                <a:solidFill>
                  <a:srgbClr val="9381FF"/>
                </a:solidFill>
                <a:latin typeface="NeuralMind Sans Square"/>
              </a:rPr>
              <a:t>LINKEDIN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8410337" y="4265771"/>
            <a:ext cx="2958703" cy="4024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870"/>
              </a:lnSpc>
              <a:spcBef>
                <a:spcPts val="0"/>
              </a:spcBef>
              <a:spcAft>
                <a:spcPts val="0"/>
              </a:spcAft>
            </a:pPr>
            <a:r>
              <a:rPr sz="1816" b="0" spc="-9">
                <a:solidFill>
                  <a:srgbClr val="FFFFFC"/>
                </a:solidFill>
                <a:latin typeface="NeuralMind Sans Square"/>
              </a:rPr>
              <a:t>@neuralmind.ai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6949440" y="1167527"/>
            <a:ext cx="4749284" cy="2788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89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62">
                <a:solidFill>
                  <a:srgbClr val="EF476F"/>
                </a:solidFill>
                <a:latin typeface="NeuralMind Sans Square"/>
              </a:rPr>
              <a:t>PESSOAS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6949440" y="1700808"/>
            <a:ext cx="4749284" cy="27203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5280"/>
              </a:lnSpc>
              <a:spcBef>
                <a:spcPts val="0"/>
              </a:spcBef>
              <a:spcAft>
                <a:spcPts val="0"/>
              </a:spcAft>
            </a:pPr>
            <a:r>
              <a:rPr sz="5280" b="0" spc="-127">
                <a:solidFill>
                  <a:srgbClr val="FFFFFC"/>
                </a:solidFill>
                <a:latin typeface="NeuralMind Sans Square"/>
              </a:rPr>
              <a:t>A IA é poderosa.</a:t>
            </a:r>
          </a:p>
          <a:p>
            <a:pPr algn="l">
              <a:lnSpc>
                <a:spcPts val="5280"/>
              </a:lnSpc>
              <a:spcBef>
                <a:spcPts val="0"/>
              </a:spcBef>
              <a:spcAft>
                <a:spcPts val="0"/>
              </a:spcAft>
            </a:pPr>
            <a:r>
              <a:rPr sz="5280" b="0" spc="-127">
                <a:solidFill>
                  <a:srgbClr val="FFFFFC"/>
                </a:solidFill>
                <a:latin typeface="NeuralMind Sans Square"/>
              </a:rPr>
              <a:t>As pessoas, indispensáveis.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949440" y="4675584"/>
            <a:ext cx="4582835" cy="10528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664"/>
              </a:lnSpc>
              <a:spcBef>
                <a:spcPts val="0"/>
              </a:spcBef>
              <a:spcAft>
                <a:spcPts val="0"/>
              </a:spcAft>
            </a:pPr>
            <a:r>
              <a:rPr sz="1776" b="0">
                <a:solidFill>
                  <a:srgbClr val="FFFFFC"/>
                </a:solidFill>
                <a:latin typeface="NeuralMind Sans Square"/>
              </a:rPr>
              <a:t>Construímos modelos para apoiar especialistas — não para substituí-los. A última palavra é, e segue sendo, humana.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804624" y="879753"/>
            <a:ext cx="4693325" cy="2788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89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62">
                <a:solidFill>
                  <a:srgbClr val="290241"/>
                </a:solidFill>
                <a:latin typeface="NeuralMind Sans Square"/>
              </a:rPr>
              <a:t>QUEM SOMOS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804624" y="1364337"/>
            <a:ext cx="4693325" cy="168830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4332"/>
              </a:lnSpc>
              <a:spcBef>
                <a:spcPts val="0"/>
              </a:spcBef>
              <a:spcAft>
                <a:spcPts val="0"/>
              </a:spcAft>
            </a:pPr>
            <a:r>
              <a:rPr sz="4512" b="0" spc="-99">
                <a:solidFill>
                  <a:srgbClr val="0F1108"/>
                </a:solidFill>
                <a:latin typeface="NeuralMind Sans Square"/>
              </a:rPr>
              <a:t>Ciência aplicada.</a:t>
            </a:r>
          </a:p>
          <a:p>
            <a:pPr algn="l">
              <a:lnSpc>
                <a:spcPts val="4332"/>
              </a:lnSpc>
              <a:spcBef>
                <a:spcPts val="0"/>
              </a:spcBef>
              <a:spcAft>
                <a:spcPts val="0"/>
              </a:spcAft>
            </a:pPr>
            <a:r>
              <a:rPr sz="4512" b="0" spc="-99">
                <a:solidFill>
                  <a:srgbClr val="0F1108"/>
                </a:solidFill>
                <a:latin typeface="NeuralMind Sans Square"/>
              </a:rPr>
              <a:t>Responsabilidade real.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804624" y="3258383"/>
            <a:ext cx="4693325" cy="16912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F1108"/>
                </a:solidFill>
                <a:latin typeface="NeuralMind Sans Square"/>
              </a:rPr>
              <a:t>Fundada por Patricia Magalhães e Roberto Lotufo, a NeuralMind transforma pesquisa em inteligência confiável para apoiar organizações diante de decisões complexas e de alto impacto.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804624" y="5228511"/>
            <a:ext cx="1739979" cy="370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960" b="1" spc="134">
                <a:solidFill>
                  <a:srgbClr val="290241"/>
                </a:solidFill>
                <a:latin typeface="NeuralMind Sans Square"/>
              </a:rPr>
              <a:t>RIGOR CIENTÍFICO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2599372" y="5228511"/>
            <a:ext cx="1694498" cy="370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960" b="1" spc="134">
                <a:solidFill>
                  <a:srgbClr val="290241"/>
                </a:solidFill>
                <a:latin typeface="NeuralMind Sans Square"/>
              </a:rPr>
              <a:t>DECISÃO HUMANA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804624" y="5645944"/>
            <a:ext cx="1924526" cy="370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960" b="1" spc="134">
                <a:solidFill>
                  <a:srgbClr val="290241"/>
                </a:solidFill>
                <a:latin typeface="NeuralMind Sans Square"/>
              </a:rPr>
              <a:t>SETORES REGULADOS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6279594" y="5594390"/>
            <a:ext cx="2378035" cy="394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</a:pPr>
            <a:r>
              <a:rPr sz="1776" b="0" spc="-9">
                <a:solidFill>
                  <a:srgbClr val="FFFFFC"/>
                </a:solidFill>
                <a:latin typeface="NeuralMind Sans Square"/>
              </a:rPr>
              <a:t>Patricia Magalhães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6279594" y="5994440"/>
            <a:ext cx="2378035" cy="211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64" b="1" spc="156">
                <a:solidFill>
                  <a:srgbClr val="EF476F"/>
                </a:solidFill>
                <a:latin typeface="NeuralMind Sans Square"/>
              </a:rPr>
              <a:t>CO-FUNDADORA &amp; CEO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9154239" y="5594390"/>
            <a:ext cx="2378035" cy="3943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</a:pPr>
            <a:r>
              <a:rPr sz="1776" b="0" spc="-9">
                <a:solidFill>
                  <a:srgbClr val="FFFFFC"/>
                </a:solidFill>
                <a:latin typeface="NeuralMind Sans Square"/>
              </a:rPr>
              <a:t>Roberto Lotufo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9154239" y="5994440"/>
            <a:ext cx="2378035" cy="21145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864" b="1" spc="156">
                <a:solidFill>
                  <a:srgbClr val="EF476F"/>
                </a:solidFill>
                <a:latin typeface="NeuralMind Sans Square"/>
              </a:rPr>
              <a:t>CO-FUNDADOR &amp; CTO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853440" y="853440"/>
            <a:ext cx="10515600" cy="2788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89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62">
                <a:solidFill>
                  <a:srgbClr val="EF476F"/>
                </a:solidFill>
                <a:latin typeface="NeuralMind Sans Square"/>
              </a:rPr>
              <a:t>PRÓXIMO PASSO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853440" y="1338024"/>
            <a:ext cx="7743111" cy="17449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720" b="0" spc="-161">
                <a:solidFill>
                  <a:srgbClr val="FFFFFC"/>
                </a:solidFill>
                <a:latin typeface="NeuralMind Sans Square"/>
              </a:rPr>
              <a:t>Vamos construir juntos.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6470690" y="5324713"/>
            <a:ext cx="2717125" cy="2596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ts val="1744"/>
              </a:lnSpc>
              <a:spcBef>
                <a:spcPts val="0"/>
              </a:spcBef>
              <a:spcAft>
                <a:spcPts val="0"/>
              </a:spcAft>
            </a:pPr>
            <a:r>
              <a:rPr sz="1104" b="1" spc="199">
                <a:solidFill>
                  <a:srgbClr val="FFFFFC"/>
                </a:solidFill>
                <a:latin typeface="NeuralMind Sans Square"/>
              </a:rPr>
              <a:t>COMERCIAL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470690" y="5619393"/>
            <a:ext cx="2717125" cy="423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ts val="3034"/>
              </a:lnSpc>
              <a:spcBef>
                <a:spcPts val="0"/>
              </a:spcBef>
              <a:spcAft>
                <a:spcPts val="0"/>
              </a:spcAft>
            </a:pPr>
            <a:r>
              <a:rPr sz="1920" b="0" spc="-10">
                <a:solidFill>
                  <a:srgbClr val="FFFFFC"/>
                </a:solidFill>
                <a:latin typeface="NeuralMind Sans Square"/>
              </a:rPr>
              <a:t>contato@neuralmind.ai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9766935" y="5324713"/>
            <a:ext cx="1602105" cy="2596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ts val="1744"/>
              </a:lnSpc>
              <a:spcBef>
                <a:spcPts val="0"/>
              </a:spcBef>
              <a:spcAft>
                <a:spcPts val="0"/>
              </a:spcAft>
            </a:pPr>
            <a:r>
              <a:rPr sz="1104" b="1" spc="199">
                <a:solidFill>
                  <a:srgbClr val="FFFFFC"/>
                </a:solidFill>
                <a:latin typeface="NeuralMind Sans Square"/>
              </a:rPr>
              <a:t>WEB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9766935" y="5619393"/>
            <a:ext cx="1602105" cy="4232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ts val="3034"/>
              </a:lnSpc>
              <a:spcBef>
                <a:spcPts val="0"/>
              </a:spcBef>
              <a:spcAft>
                <a:spcPts val="0"/>
              </a:spcAft>
            </a:pPr>
            <a:r>
              <a:rPr sz="1920" b="0" spc="-10">
                <a:solidFill>
                  <a:srgbClr val="FFFFFC"/>
                </a:solidFill>
                <a:latin typeface="NeuralMind Sans Square"/>
              </a:rPr>
              <a:t>neuralmind.ai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755809" y="707112"/>
            <a:ext cx="10710862" cy="24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</a:pPr>
            <a:r>
              <a:rPr sz="1051" b="1" spc="142">
                <a:solidFill>
                  <a:srgbClr val="290241"/>
                </a:solidFill>
                <a:latin typeface="NeuralMind Sans Square"/>
              </a:rPr>
              <a:t>PROCESSO EM 3 ETAPAS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755809" y="1323737"/>
            <a:ext cx="4596884" cy="152935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3915"/>
              </a:lnSpc>
              <a:spcBef>
                <a:spcPts val="0"/>
              </a:spcBef>
              <a:spcAft>
                <a:spcPts val="0"/>
              </a:spcAft>
            </a:pPr>
            <a:r>
              <a:rPr sz="3995" b="0" spc="-88">
                <a:solidFill>
                  <a:srgbClr val="0F1108"/>
                </a:solidFill>
                <a:latin typeface="NeuralMind Sans Square"/>
              </a:rPr>
              <a:t>Da complexidade à clareza para decidir.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5727978" y="2318504"/>
            <a:ext cx="4206597" cy="53459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304" b="0">
                <a:solidFill>
                  <a:srgbClr val="0F1108"/>
                </a:solidFill>
                <a:latin typeface="NeuralMind Sans Square"/>
              </a:rPr>
              <a:t>Modelo para explicar jornadas curtas, pipelines comerciais, onboarding ou etapas de implantação.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977027" y="4236125"/>
            <a:ext cx="350877" cy="35849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</a:pPr>
            <a:r>
              <a:rPr sz="883" b="1" spc="106">
                <a:solidFill>
                  <a:srgbClr val="FFFFFC"/>
                </a:solidFill>
                <a:latin typeface="NeuralMind Sans Square"/>
              </a:rPr>
              <a:t>01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977027" y="4765715"/>
            <a:ext cx="3044904" cy="45993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3322"/>
              </a:lnSpc>
              <a:spcBef>
                <a:spcPts val="0"/>
              </a:spcBef>
              <a:spcAft>
                <a:spcPts val="0"/>
              </a:spcAft>
            </a:pPr>
            <a:r>
              <a:rPr sz="2102" b="0" spc="-21">
                <a:solidFill>
                  <a:srgbClr val="0F1108"/>
                </a:solidFill>
                <a:latin typeface="NeuralMind Sans Square"/>
              </a:rPr>
              <a:t>Mapear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977027" y="5321022"/>
            <a:ext cx="3044904" cy="6467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599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NeuralMind Sans Square"/>
              </a:rPr>
              <a:t>Identificamos fontes, regras de negócio, usuários e pontos de decisão que exigem rastreabilidade.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4588669" y="4236125"/>
            <a:ext cx="350877" cy="35849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</a:pPr>
            <a:r>
              <a:rPr sz="883" b="1" spc="106">
                <a:solidFill>
                  <a:srgbClr val="FFFFFC"/>
                </a:solidFill>
                <a:latin typeface="NeuralMind Sans Square"/>
              </a:rPr>
              <a:t>02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4588669" y="4765715"/>
            <a:ext cx="3045023" cy="45993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3322"/>
              </a:lnSpc>
              <a:spcBef>
                <a:spcPts val="0"/>
              </a:spcBef>
              <a:spcAft>
                <a:spcPts val="0"/>
              </a:spcAft>
            </a:pPr>
            <a:r>
              <a:rPr sz="2102" b="0" spc="-21">
                <a:solidFill>
                  <a:srgbClr val="0F1108"/>
                </a:solidFill>
                <a:latin typeface="NeuralMind Sans Square"/>
              </a:rPr>
              <a:t>Construir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4588669" y="5321022"/>
            <a:ext cx="3045023" cy="6467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599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NeuralMind Sans Square"/>
              </a:rPr>
              <a:t>Combinamos modelos especializados, busca semântica e agentes para criar uma solução sob medida.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8200430" y="4236125"/>
            <a:ext cx="350877" cy="35849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95"/>
              </a:lnSpc>
              <a:spcBef>
                <a:spcPts val="0"/>
              </a:spcBef>
              <a:spcAft>
                <a:spcPts val="0"/>
              </a:spcAft>
            </a:pPr>
            <a:r>
              <a:rPr sz="883" b="1" spc="106">
                <a:solidFill>
                  <a:srgbClr val="FFFFFC"/>
                </a:solidFill>
                <a:latin typeface="NeuralMind Sans Square"/>
              </a:rPr>
              <a:t>03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8200430" y="4765715"/>
            <a:ext cx="3044904" cy="45993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3322"/>
              </a:lnSpc>
              <a:spcBef>
                <a:spcPts val="0"/>
              </a:spcBef>
              <a:spcAft>
                <a:spcPts val="0"/>
              </a:spcAft>
            </a:pPr>
            <a:r>
              <a:rPr sz="2102" b="0" spc="-21">
                <a:solidFill>
                  <a:srgbClr val="0F1108"/>
                </a:solidFill>
                <a:latin typeface="NeuralMind Sans Square"/>
              </a:rPr>
              <a:t>Validar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8200430" y="5321022"/>
            <a:ext cx="3044904" cy="6467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599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0F1108"/>
                </a:solidFill>
                <a:latin typeface="NeuralMind Sans Square"/>
              </a:rPr>
              <a:t>Especialistas revisam saídas, monitoram qualidade e transformam IA em operação confiável.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755809" y="682704"/>
            <a:ext cx="10710743" cy="24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</a:pPr>
            <a:r>
              <a:rPr sz="1051" b="1" spc="142">
                <a:solidFill>
                  <a:srgbClr val="EF476F"/>
                </a:solidFill>
                <a:latin typeface="NeuralMind Sans Square"/>
              </a:rPr>
              <a:t>ARQUITETURA DE PRODUTO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755809" y="1299329"/>
            <a:ext cx="4751189" cy="7686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5752"/>
              </a:lnSpc>
              <a:spcBef>
                <a:spcPts val="0"/>
              </a:spcBef>
              <a:spcAft>
                <a:spcPts val="0"/>
              </a:spcAft>
            </a:pPr>
            <a:r>
              <a:rPr sz="6391" b="0" spc="-141">
                <a:solidFill>
                  <a:srgbClr val="FFFFFC"/>
                </a:solidFill>
                <a:latin typeface="NeuralMind Sans Square"/>
              </a:rPr>
              <a:t>Araci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5882283" y="1462921"/>
            <a:ext cx="4575453" cy="6050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233"/>
              </a:lnSpc>
              <a:spcBef>
                <a:spcPts val="0"/>
              </a:spcBef>
              <a:spcAft>
                <a:spcPts val="0"/>
              </a:spcAft>
            </a:pPr>
            <a:r>
              <a:rPr sz="1892" b="0" spc="-11">
                <a:solidFill>
                  <a:srgbClr val="FFFFFC"/>
                </a:solidFill>
                <a:latin typeface="NeuralMind Sans Square"/>
              </a:rPr>
              <a:t>Decision Intelligence para o trabalho jurídico, com NeuralSearchX + Jurema.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5429607" y="2814757"/>
            <a:ext cx="1363266" cy="1899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ts val="1196"/>
              </a:lnSpc>
              <a:spcBef>
                <a:spcPts val="0"/>
              </a:spcBef>
              <a:spcAft>
                <a:spcPts val="0"/>
              </a:spcAft>
            </a:pPr>
            <a:r>
              <a:rPr sz="757" b="1" spc="136">
                <a:solidFill>
                  <a:srgbClr val="EF476F"/>
                </a:solidFill>
                <a:latin typeface="NeuralMind Sans Square"/>
              </a:rPr>
              <a:t>PRODUTO PRINCIPAL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5532596" y="3057287"/>
            <a:ext cx="1157168" cy="4844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ts val="3515"/>
              </a:lnSpc>
              <a:spcBef>
                <a:spcPts val="0"/>
              </a:spcBef>
              <a:spcAft>
                <a:spcPts val="0"/>
              </a:spcAft>
            </a:pPr>
            <a:r>
              <a:rPr sz="3700" b="0" spc="-67">
                <a:solidFill>
                  <a:srgbClr val="FFFFFC"/>
                </a:solidFill>
                <a:latin typeface="NeuralMind Sans Square"/>
              </a:rPr>
              <a:t>Araci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4327803" y="3594378"/>
            <a:ext cx="3566874" cy="41171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ts val="1472"/>
              </a:lnSpc>
              <a:spcBef>
                <a:spcPts val="0"/>
              </a:spcBef>
              <a:spcAft>
                <a:spcPts val="0"/>
              </a:spcAft>
            </a:pPr>
            <a:r>
              <a:rPr sz="1051" b="0">
                <a:solidFill>
                  <a:srgbClr val="FFFFFC"/>
                </a:solidFill>
                <a:latin typeface="NeuralMind Sans Square"/>
              </a:rPr>
              <a:t>Análise, fundamentos e minutas com rastreabilidade para o trabalho jurídico.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939641" y="4982289"/>
            <a:ext cx="1438632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196"/>
              </a:lnSpc>
              <a:spcBef>
                <a:spcPts val="0"/>
              </a:spcBef>
              <a:spcAft>
                <a:spcPts val="0"/>
              </a:spcAft>
            </a:pPr>
            <a:r>
              <a:rPr sz="757" b="1" spc="136">
                <a:solidFill>
                  <a:srgbClr val="9381FF"/>
                </a:solidFill>
                <a:latin typeface="NeuralMind Sans Square"/>
              </a:rPr>
              <a:t>BUSCA PROPRIETÁRIA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939641" y="5219819"/>
            <a:ext cx="3133963" cy="38397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724"/>
              </a:lnSpc>
              <a:spcBef>
                <a:spcPts val="0"/>
              </a:spcBef>
              <a:spcAft>
                <a:spcPts val="0"/>
              </a:spcAft>
            </a:pPr>
            <a:r>
              <a:rPr sz="1724" b="0" spc="-14">
                <a:solidFill>
                  <a:srgbClr val="FFFFFC"/>
                </a:solidFill>
                <a:latin typeface="NeuralMind Sans Square"/>
              </a:rPr>
              <a:t>NeuralSearchX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939641" y="5645706"/>
            <a:ext cx="3133963" cy="38385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61"/>
              </a:lnSpc>
              <a:spcBef>
                <a:spcPts val="0"/>
              </a:spcBef>
              <a:spcAft>
                <a:spcPts val="0"/>
              </a:spcAft>
            </a:pPr>
            <a:r>
              <a:rPr sz="959" b="0">
                <a:solidFill>
                  <a:srgbClr val="FFFFFC"/>
                </a:solidFill>
                <a:latin typeface="NeuralMind Sans Square"/>
              </a:rPr>
              <a:t>Recupera evidências, documentos e fontes verificáveis para cada resposta.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4544258" y="4982289"/>
            <a:ext cx="1625798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196"/>
              </a:lnSpc>
              <a:spcBef>
                <a:spcPts val="0"/>
              </a:spcBef>
              <a:spcAft>
                <a:spcPts val="0"/>
              </a:spcAft>
            </a:pPr>
            <a:r>
              <a:rPr sz="757" b="1" spc="136">
                <a:solidFill>
                  <a:srgbClr val="9381FF"/>
                </a:solidFill>
                <a:latin typeface="NeuralMind Sans Square"/>
              </a:rPr>
              <a:t>MODELO ESPECIALIZADO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4544258" y="5219819"/>
            <a:ext cx="3133963" cy="38397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724"/>
              </a:lnSpc>
              <a:spcBef>
                <a:spcPts val="0"/>
              </a:spcBef>
              <a:spcAft>
                <a:spcPts val="0"/>
              </a:spcAft>
            </a:pPr>
            <a:r>
              <a:rPr sz="1724" b="0" spc="-14">
                <a:solidFill>
                  <a:srgbClr val="FFFFFC"/>
                </a:solidFill>
                <a:latin typeface="NeuralMind Sans Square"/>
              </a:rPr>
              <a:t>Jurema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4544258" y="5645706"/>
            <a:ext cx="3133963" cy="38385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61"/>
              </a:lnSpc>
              <a:spcBef>
                <a:spcPts val="0"/>
              </a:spcBef>
              <a:spcAft>
                <a:spcPts val="0"/>
              </a:spcAft>
            </a:pPr>
            <a:r>
              <a:rPr sz="959" b="0">
                <a:solidFill>
                  <a:srgbClr val="FFFFFC"/>
                </a:solidFill>
                <a:latin typeface="NeuralMind Sans Square"/>
              </a:rPr>
              <a:t>LLM jurídico brasileiro para linguagem, doutrina e contexto normativo local.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8148876" y="4982289"/>
            <a:ext cx="1518880" cy="152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196"/>
              </a:lnSpc>
              <a:spcBef>
                <a:spcPts val="0"/>
              </a:spcBef>
              <a:spcAft>
                <a:spcPts val="0"/>
              </a:spcAft>
            </a:pPr>
            <a:r>
              <a:rPr sz="757" b="1" spc="136">
                <a:solidFill>
                  <a:srgbClr val="9381FF"/>
                </a:solidFill>
                <a:latin typeface="NeuralMind Sans Square"/>
              </a:rPr>
              <a:t>CAMADA OPERACIONAL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8148876" y="5219819"/>
            <a:ext cx="3133963" cy="38397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724"/>
              </a:lnSpc>
              <a:spcBef>
                <a:spcPts val="0"/>
              </a:spcBef>
              <a:spcAft>
                <a:spcPts val="0"/>
              </a:spcAft>
            </a:pPr>
            <a:r>
              <a:rPr sz="1724" b="0" spc="-14">
                <a:solidFill>
                  <a:srgbClr val="FFFFFC"/>
                </a:solidFill>
                <a:latin typeface="NeuralMind Sans Square"/>
              </a:rPr>
              <a:t>Agentes &amp; Workflow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8148876" y="5645706"/>
            <a:ext cx="3133963" cy="38385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361"/>
              </a:lnSpc>
              <a:spcBef>
                <a:spcPts val="0"/>
              </a:spcBef>
              <a:spcAft>
                <a:spcPts val="0"/>
              </a:spcAft>
            </a:pPr>
            <a:r>
              <a:rPr sz="959" b="0">
                <a:solidFill>
                  <a:srgbClr val="FFFFFC"/>
                </a:solidFill>
                <a:latin typeface="NeuralMind Sans Square"/>
              </a:rPr>
              <a:t>Orquestra tarefas, validações e próximos passos sob supervisão humana.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 — editável</dc:title>
  <dc:subject>Fundos fiéis ao HTML/CSS com caixas de texto editáveis</dc:subject>
  <dc:creator>NeuralMind.AI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