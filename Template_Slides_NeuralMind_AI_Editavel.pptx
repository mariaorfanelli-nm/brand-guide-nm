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3602593"/>
            <a:ext cx="2780228" cy="22091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51"/>
              </a:lnSpc>
              <a:spcBef>
                <a:spcPts val="0"/>
              </a:spcBef>
              <a:spcAft>
                <a:spcPts val="0"/>
              </a:spcAft>
            </a:pPr>
            <a:r>
              <a:rPr sz="967" b="0">
                <a:solidFill>
                  <a:srgbClr val="9381FF"/>
                </a:solidFill>
                <a:latin typeface="Outfit SemiBold"/>
              </a:rPr>
              <a:t>BRAND GUIDE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60" y="5483304"/>
            <a:ext cx="4375761" cy="43598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44"/>
              </a:lnSpc>
              <a:spcBef>
                <a:spcPts val="0"/>
              </a:spcBef>
              <a:spcAft>
                <a:spcPts val="0"/>
              </a:spcAft>
            </a:pPr>
            <a:r>
              <a:rPr sz="2096" b="0">
                <a:solidFill>
                  <a:srgbClr val="FFFFFC"/>
                </a:solidFill>
                <a:latin typeface="Outfit"/>
              </a:rPr>
              <a:t>Inteligência para decisão.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3440" y="2378511"/>
            <a:ext cx="1633418" cy="23317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031" b="0">
                <a:solidFill>
                  <a:srgbClr val="9381FF"/>
                </a:solidFill>
                <a:latin typeface="Outfit SemiBold"/>
              </a:rPr>
              <a:t>CAPÍTULO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40" y="2843212"/>
            <a:ext cx="11385470" cy="121615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192"/>
              </a:lnSpc>
              <a:spcBef>
                <a:spcPts val="0"/>
              </a:spcBef>
              <a:spcAft>
                <a:spcPts val="0"/>
              </a:spcAft>
            </a:pPr>
            <a:r>
              <a:rPr sz="6192" b="0">
                <a:solidFill>
                  <a:srgbClr val="FFFFFC"/>
                </a:solidFill>
                <a:latin typeface="Outfit Medium"/>
              </a:rPr>
              <a:t>Arquitetura de Produtos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40" y="3897749"/>
            <a:ext cx="7302960" cy="3275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91"/>
              </a:lnSpc>
              <a:spcBef>
                <a:spcPts val="0"/>
              </a:spcBef>
              <a:spcAft>
                <a:spcPts val="0"/>
              </a:spcAft>
            </a:pPr>
            <a:r>
              <a:rPr sz="1527" b="0">
                <a:solidFill>
                  <a:srgbClr val="FFFFFC"/>
                </a:solidFill>
                <a:latin typeface="Outfit"/>
              </a:rPr>
              <a:t>Diferentes produtos, uma mesma capacidade: transformar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4188711"/>
            <a:ext cx="5450562" cy="3275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91"/>
              </a:lnSpc>
              <a:spcBef>
                <a:spcPts val="0"/>
              </a:spcBef>
              <a:spcAft>
                <a:spcPts val="0"/>
              </a:spcAft>
            </a:pPr>
            <a:r>
              <a:rPr sz="1527" b="0">
                <a:solidFill>
                  <a:srgbClr val="FFFFFC"/>
                </a:solidFill>
                <a:latin typeface="Outfit"/>
              </a:rPr>
              <a:t>complexidade em inteligência para decisão.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5808" y="755808"/>
            <a:ext cx="2850570" cy="236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51" b="0">
                <a:solidFill>
                  <a:srgbClr val="EF476F"/>
                </a:solidFill>
                <a:latin typeface="Outfit SemiBold"/>
              </a:rPr>
              <a:t>VERTICAIS DE ATUAÇÃO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5808" y="1383149"/>
            <a:ext cx="6240994" cy="78954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873"/>
              </a:lnSpc>
              <a:spcBef>
                <a:spcPts val="0"/>
              </a:spcBef>
              <a:spcAft>
                <a:spcPts val="0"/>
              </a:spcAft>
            </a:pPr>
            <a:r>
              <a:rPr sz="3952" b="0">
                <a:solidFill>
                  <a:srgbClr val="FFFFFC"/>
                </a:solidFill>
                <a:latin typeface="Outfit Medium"/>
              </a:rPr>
              <a:t>Decision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5808" y="1875087"/>
            <a:ext cx="3330130" cy="78954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873"/>
              </a:lnSpc>
              <a:spcBef>
                <a:spcPts val="0"/>
              </a:spcBef>
              <a:spcAft>
                <a:spcPts val="0"/>
              </a:spcAft>
            </a:pPr>
            <a:r>
              <a:rPr sz="3952" b="0">
                <a:solidFill>
                  <a:srgbClr val="FFFFFC"/>
                </a:solidFill>
                <a:latin typeface="Outfit Medium"/>
              </a:rPr>
              <a:t>onde cada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5808" y="2367025"/>
            <a:ext cx="5220200" cy="78954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873"/>
              </a:lnSpc>
              <a:spcBef>
                <a:spcPts val="0"/>
              </a:spcBef>
              <a:spcAft>
                <a:spcPts val="0"/>
              </a:spcAft>
            </a:pPr>
            <a:r>
              <a:rPr sz="3952" b="0">
                <a:solidFill>
                  <a:srgbClr val="FFFFFC"/>
                </a:solidFill>
                <a:latin typeface="Outfit Medium"/>
              </a:rPr>
              <a:t>decisão importa.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4463" y="2065734"/>
            <a:ext cx="6197822" cy="3009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81"/>
              </a:lnSpc>
              <a:spcBef>
                <a:spcPts val="0"/>
              </a:spcBef>
              <a:spcAft>
                <a:spcPts val="0"/>
              </a:spcAft>
            </a:pPr>
            <a:r>
              <a:rPr sz="1387" b="0">
                <a:solidFill>
                  <a:srgbClr val="FFFFFC"/>
                </a:solidFill>
                <a:latin typeface="Outfit"/>
              </a:rPr>
              <a:t>Do jurídico à saúde, a NeuralMind organiza informação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84463" y="2330073"/>
            <a:ext cx="6384178" cy="3009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81"/>
              </a:lnSpc>
              <a:spcBef>
                <a:spcPts val="0"/>
              </a:spcBef>
              <a:spcAft>
                <a:spcPts val="0"/>
              </a:spcAft>
            </a:pPr>
            <a:r>
              <a:rPr sz="1387" b="0">
                <a:solidFill>
                  <a:srgbClr val="FFFFFC"/>
                </a:solidFill>
                <a:latin typeface="Outfit"/>
              </a:rPr>
              <a:t>complexa para apoiar especialistas com contexto, fontes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4463" y="2594413"/>
            <a:ext cx="3857863" cy="3009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81"/>
              </a:lnSpc>
              <a:spcBef>
                <a:spcPts val="0"/>
              </a:spcBef>
              <a:spcAft>
                <a:spcPts val="0"/>
              </a:spcAft>
            </a:pPr>
            <a:r>
              <a:rPr sz="1387" b="0">
                <a:solidFill>
                  <a:srgbClr val="FFFFFC"/>
                </a:solidFill>
                <a:latin typeface="Outfit"/>
              </a:rPr>
              <a:t>verificáveis e supervisão humana.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623" y="3991689"/>
            <a:ext cx="423433" cy="2047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24"/>
              </a:lnSpc>
              <a:spcBef>
                <a:spcPts val="0"/>
              </a:spcBef>
              <a:spcAft>
                <a:spcPts val="0"/>
              </a:spcAft>
            </a:pPr>
            <a:r>
              <a:rPr sz="883" b="0">
                <a:solidFill>
                  <a:srgbClr val="EF476F"/>
                </a:solidFill>
                <a:latin typeface="Outfit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623" y="4288035"/>
            <a:ext cx="3772185" cy="38902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75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C"/>
                </a:solidFill>
                <a:latin typeface="Outfit Medium"/>
              </a:rPr>
              <a:t>Inteligência fundamental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623" y="4768453"/>
            <a:ext cx="3742848" cy="2416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Outfit"/>
              </a:rPr>
              <a:t>Transforma documentos, bases internas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623" y="4966681"/>
            <a:ext cx="4147399" cy="2416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Outfit"/>
              </a:rPr>
              <a:t>informação não estruturada em conhecimento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623" y="5164909"/>
            <a:ext cx="2187654" cy="2416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Outfit"/>
              </a:rPr>
              <a:t>verificável para decidir.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038" y="5637371"/>
            <a:ext cx="1214866" cy="17755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FFFFFC"/>
                </a:solidFill>
                <a:latin typeface="Outfit SemiBold"/>
              </a:rPr>
              <a:t>NeuralSearchX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0371" y="5637371"/>
            <a:ext cx="637127" cy="17755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FFFFFC"/>
                </a:solidFill>
                <a:latin typeface="Outfit SemiBold"/>
              </a:rPr>
              <a:t>NDocs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33" y="5637371"/>
            <a:ext cx="997672" cy="17755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FFFFFC"/>
                </a:solidFill>
                <a:latin typeface="Outfit SemiBold"/>
              </a:rPr>
              <a:t>Tuss-Finder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7479" y="3991689"/>
            <a:ext cx="452604" cy="2047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24"/>
              </a:lnSpc>
              <a:spcBef>
                <a:spcPts val="0"/>
              </a:spcBef>
              <a:spcAft>
                <a:spcPts val="0"/>
              </a:spcAft>
            </a:pPr>
            <a:r>
              <a:rPr sz="883" b="0">
                <a:solidFill>
                  <a:srgbClr val="EF476F"/>
                </a:solidFill>
                <a:latin typeface="Outfit SemiBol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7479" y="4288035"/>
            <a:ext cx="4399597" cy="38902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75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C"/>
                </a:solidFill>
                <a:latin typeface="Outfit Medium"/>
              </a:rPr>
              <a:t>Jurídico, regulação e controle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479" y="4768453"/>
            <a:ext cx="4084391" cy="2416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Outfit"/>
              </a:rPr>
              <a:t>Apoia análise, fundamentação e formação 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7479" y="4966681"/>
            <a:ext cx="4222908" cy="2416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Outfit"/>
              </a:rPr>
              <a:t>convicção em contextos jurídicos, regulatórios 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7479" y="5164909"/>
            <a:ext cx="1216533" cy="2416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Outfit"/>
              </a:rPr>
              <a:t>de controle.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894" y="5637371"/>
            <a:ext cx="705635" cy="17755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FFFFFC"/>
                </a:solidFill>
                <a:latin typeface="Outfit SemiBold"/>
              </a:rPr>
              <a:t>Jurema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491" y="5637371"/>
            <a:ext cx="566951" cy="17755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FFFFFC"/>
                </a:solidFill>
                <a:latin typeface="Outfit SemiBold"/>
              </a:rPr>
              <a:t>Araci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52028" y="5637371"/>
            <a:ext cx="788146" cy="17755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FFFFFC"/>
                </a:solidFill>
                <a:latin typeface="Outfit SemiBold"/>
              </a:rPr>
              <a:t>AssertIA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5561" y="5637371"/>
            <a:ext cx="578786" cy="17755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FFFFFC"/>
                </a:solidFill>
                <a:latin typeface="Outfit SemiBold"/>
              </a:rPr>
              <a:t>SofIA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7454" y="3991689"/>
            <a:ext cx="452104" cy="2047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24"/>
              </a:lnSpc>
              <a:spcBef>
                <a:spcPts val="0"/>
              </a:spcBef>
              <a:spcAft>
                <a:spcPts val="0"/>
              </a:spcAft>
            </a:pPr>
            <a:r>
              <a:rPr sz="883" b="0">
                <a:solidFill>
                  <a:srgbClr val="EF476F"/>
                </a:solidFill>
                <a:latin typeface="Outfit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7454" y="4288035"/>
            <a:ext cx="1097351" cy="38902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75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C"/>
                </a:solidFill>
                <a:latin typeface="Outfit Medium"/>
              </a:rPr>
              <a:t>Saúde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7454" y="4768453"/>
            <a:ext cx="4352758" cy="2416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Outfit"/>
              </a:rPr>
              <a:t>Apoia a priorização clínica para que especialistas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7454" y="4966681"/>
            <a:ext cx="3735181" cy="2416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Outfit"/>
              </a:rPr>
              <a:t>direcionem atenção aos casos que podem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7454" y="5164909"/>
            <a:ext cx="2124813" cy="2416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Outfit"/>
              </a:rPr>
              <a:t>precisar dela primeiro.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1869" y="5637371"/>
            <a:ext cx="800981" cy="17755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FFFFFC"/>
                </a:solidFill>
                <a:latin typeface="Outfit SemiBold"/>
              </a:rPr>
              <a:t>PrioScan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90888"/>
            <a:ext cx="2409515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3"/>
              </a:lnSpc>
              <a:spcBef>
                <a:spcPts val="0"/>
              </a:spcBef>
              <a:spcAft>
                <a:spcPts val="0"/>
              </a:spcAft>
            </a:pPr>
            <a:r>
              <a:rPr sz="1056" b="0">
                <a:solidFill>
                  <a:srgbClr val="290241"/>
                </a:solidFill>
                <a:latin typeface="Outfit SemiBold"/>
              </a:rPr>
              <a:t>PRODUTO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58195"/>
            <a:ext cx="5850612" cy="96999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03"/>
              </a:lnSpc>
              <a:spcBef>
                <a:spcPts val="0"/>
              </a:spcBef>
              <a:spcAft>
                <a:spcPts val="0"/>
              </a:spcAft>
            </a:pPr>
            <a:r>
              <a:rPr sz="4899" b="0">
                <a:solidFill>
                  <a:srgbClr val="0F1108"/>
                </a:solidFill>
                <a:latin typeface="Outfit Medium"/>
              </a:rPr>
              <a:t>NeuralSearchX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21624"/>
            <a:ext cx="5996963" cy="3745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93"/>
              </a:lnSpc>
              <a:spcBef>
                <a:spcPts val="0"/>
              </a:spcBef>
              <a:spcAft>
                <a:spcPts val="0"/>
              </a:spcAft>
            </a:pPr>
            <a:r>
              <a:rPr sz="1774" b="0">
                <a:solidFill>
                  <a:srgbClr val="290241"/>
                </a:solidFill>
                <a:latin typeface="Outfit Medium"/>
              </a:rPr>
              <a:t>Conhecimento organizacional pronto para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7488"/>
            <a:ext cx="2692050" cy="3745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93"/>
              </a:lnSpc>
              <a:spcBef>
                <a:spcPts val="0"/>
              </a:spcBef>
              <a:spcAft>
                <a:spcPts val="0"/>
              </a:spcAft>
            </a:pPr>
            <a:r>
              <a:rPr sz="1774" b="0">
                <a:solidFill>
                  <a:srgbClr val="290241"/>
                </a:solidFill>
                <a:latin typeface="Outfit Medium"/>
              </a:rPr>
              <a:t>entrar na decisão.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19330"/>
            <a:ext cx="5334047" cy="271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74"/>
              </a:lnSpc>
              <a:spcBef>
                <a:spcPts val="0"/>
              </a:spcBef>
              <a:spcAft>
                <a:spcPts val="0"/>
              </a:spcAft>
            </a:pPr>
            <a:r>
              <a:rPr sz="1233" b="0">
                <a:solidFill>
                  <a:srgbClr val="0F1108"/>
                </a:solidFill>
                <a:latin typeface="Outfit"/>
              </a:rPr>
              <a:t>A busca conversacional encontra respostas em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57427"/>
            <a:ext cx="5036010" cy="271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74"/>
              </a:lnSpc>
              <a:spcBef>
                <a:spcPts val="0"/>
              </a:spcBef>
              <a:spcAft>
                <a:spcPts val="0"/>
              </a:spcAft>
            </a:pPr>
            <a:r>
              <a:rPr sz="1233" b="0">
                <a:solidFill>
                  <a:srgbClr val="0F1108"/>
                </a:solidFill>
                <a:latin typeface="Outfit"/>
              </a:rPr>
              <a:t>internas e mantém o trecho original à vista. Quem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95524"/>
            <a:ext cx="4733139" cy="271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74"/>
              </a:lnSpc>
              <a:spcBef>
                <a:spcPts val="0"/>
              </a:spcBef>
              <a:spcAft>
                <a:spcPts val="0"/>
              </a:spcAft>
            </a:pPr>
            <a:r>
              <a:rPr sz="1233" b="0">
                <a:solidFill>
                  <a:srgbClr val="0F1108"/>
                </a:solidFill>
                <a:latin typeface="Outfit"/>
              </a:rPr>
              <a:t>decide pode verificar, aprofundar e seguir 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3621"/>
            <a:ext cx="1726763" cy="271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74"/>
              </a:lnSpc>
              <a:spcBef>
                <a:spcPts val="0"/>
              </a:spcBef>
              <a:spcAft>
                <a:spcPts val="0"/>
              </a:spcAft>
            </a:pPr>
            <a:r>
              <a:rPr sz="1233" b="0">
                <a:solidFill>
                  <a:srgbClr val="0F1108"/>
                </a:solidFill>
                <a:latin typeface="Outfit"/>
              </a:rPr>
              <a:t>mais confiança.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3483" y="4501157"/>
            <a:ext cx="249452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6" b="0">
                <a:solidFill>
                  <a:srgbClr val="0F1108"/>
                </a:solidFill>
                <a:latin typeface="Outfit"/>
              </a:rPr>
              <a:t>Busca semântica multifonte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31637"/>
            <a:ext cx="386429" cy="1894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sz="802" b="0">
                <a:solidFill>
                  <a:srgbClr val="EF476F"/>
                </a:solidFill>
                <a:latin typeface="Outfit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3483" y="4893587"/>
            <a:ext cx="236167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6" b="0">
                <a:solidFill>
                  <a:srgbClr val="0F1108"/>
                </a:solidFill>
                <a:latin typeface="Outfit"/>
              </a:rPr>
              <a:t>Citação do trecho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24067"/>
            <a:ext cx="412932" cy="1894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sz="802" b="0">
                <a:solidFill>
                  <a:srgbClr val="EF476F"/>
                </a:solidFill>
                <a:latin typeface="Outfit Semi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3483" y="5286017"/>
            <a:ext cx="244368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6" b="0">
                <a:solidFill>
                  <a:srgbClr val="0F1108"/>
                </a:solidFill>
                <a:latin typeface="Outfit"/>
              </a:rPr>
              <a:t>Validação humana no fluxo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16497"/>
            <a:ext cx="412432" cy="1894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sz="802" b="0">
                <a:solidFill>
                  <a:srgbClr val="EF476F"/>
                </a:solidFill>
                <a:latin typeface="Outfit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4919" y="2182296"/>
            <a:ext cx="1010173" cy="16854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39"/>
              </a:lnSpc>
              <a:spcBef>
                <a:spcPts val="0"/>
              </a:spcBef>
              <a:spcAft>
                <a:spcPts val="0"/>
              </a:spcAft>
            </a:pPr>
            <a:r>
              <a:rPr sz="692" b="1">
                <a:solidFill>
                  <a:srgbClr val="290241"/>
                </a:solidFill>
                <a:latin typeface="Outfit"/>
              </a:rPr>
              <a:t>CONSULTA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24919" y="2378511"/>
            <a:ext cx="4723137" cy="286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64"/>
              </a:lnSpc>
              <a:spcBef>
                <a:spcPts val="0"/>
              </a:spcBef>
              <a:spcAft>
                <a:spcPts val="0"/>
              </a:spcAft>
            </a:pPr>
            <a:r>
              <a:rPr sz="1309" b="0">
                <a:solidFill>
                  <a:srgbClr val="0F1108"/>
                </a:solidFill>
                <a:latin typeface="Outfit Medium"/>
              </a:rPr>
              <a:t>Quais contratos exigem revisão regulatória?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0993" y="3061454"/>
            <a:ext cx="1929788" cy="16854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39"/>
              </a:lnSpc>
              <a:spcBef>
                <a:spcPts val="0"/>
              </a:spcBef>
              <a:spcAft>
                <a:spcPts val="0"/>
              </a:spcAft>
            </a:pPr>
            <a:r>
              <a:rPr sz="692" b="1">
                <a:solidFill>
                  <a:srgbClr val="290241"/>
                </a:solidFill>
                <a:latin typeface="Outfit"/>
              </a:rPr>
              <a:t>RESPOSTA COM FONTE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40993" y="3273742"/>
            <a:ext cx="6943248" cy="22647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5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F1108"/>
                </a:solidFill>
                <a:latin typeface="Outfit"/>
              </a:rPr>
              <a:t>Foram identificados três documentos com cláusulas de atualização regulatória e prazo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40993" y="3457315"/>
            <a:ext cx="1915120" cy="22647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5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F1108"/>
                </a:solidFill>
                <a:latin typeface="Outfit"/>
              </a:rPr>
              <a:t>de revisão em aberto.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98130" y="4698563"/>
            <a:ext cx="930997" cy="16854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39"/>
              </a:lnSpc>
              <a:spcBef>
                <a:spcPts val="0"/>
              </a:spcBef>
              <a:spcAft>
                <a:spcPts val="0"/>
              </a:spcAft>
            </a:pPr>
            <a:r>
              <a:rPr sz="692" b="1">
                <a:solidFill>
                  <a:srgbClr val="290241"/>
                </a:solidFill>
                <a:latin typeface="Outfit"/>
              </a:rPr>
              <a:t>FONTE 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130" y="4884062"/>
            <a:ext cx="1900618" cy="20072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37"/>
              </a:lnSpc>
              <a:spcBef>
                <a:spcPts val="0"/>
              </a:spcBef>
              <a:spcAft>
                <a:spcPts val="0"/>
              </a:spcAft>
            </a:pPr>
            <a:r>
              <a:rPr sz="861" b="0">
                <a:solidFill>
                  <a:srgbClr val="290241"/>
                </a:solidFill>
                <a:latin typeface="Outfit SemiBold"/>
              </a:rPr>
              <a:t>Contrato matriz · pág.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5252" y="4698563"/>
            <a:ext cx="954000" cy="16854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39"/>
              </a:lnSpc>
              <a:spcBef>
                <a:spcPts val="0"/>
              </a:spcBef>
              <a:spcAft>
                <a:spcPts val="0"/>
              </a:spcAft>
            </a:pPr>
            <a:r>
              <a:rPr sz="692" b="1">
                <a:solidFill>
                  <a:srgbClr val="290241"/>
                </a:solidFill>
                <a:latin typeface="Outfit"/>
              </a:rPr>
              <a:t>FONTE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5252" y="4884062"/>
            <a:ext cx="1805939" cy="20072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37"/>
              </a:lnSpc>
              <a:spcBef>
                <a:spcPts val="0"/>
              </a:spcBef>
              <a:spcAft>
                <a:spcPts val="0"/>
              </a:spcAft>
            </a:pPr>
            <a:r>
              <a:rPr sz="861" b="0">
                <a:solidFill>
                  <a:srgbClr val="290241"/>
                </a:solidFill>
                <a:latin typeface="Outfit SemiBold"/>
              </a:rPr>
              <a:t>Anexo jurídico · pág.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3440" y="2414825"/>
            <a:ext cx="8419433" cy="6971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87"/>
              </a:lnSpc>
              <a:spcBef>
                <a:spcPts val="0"/>
              </a:spcBef>
              <a:spcAft>
                <a:spcPts val="0"/>
              </a:spcAft>
            </a:pPr>
            <a:r>
              <a:rPr sz="3467" b="0">
                <a:solidFill>
                  <a:srgbClr val="0F1108"/>
                </a:solidFill>
                <a:latin typeface="Outfit Medium"/>
              </a:rPr>
              <a:t>A tecnologia organiza e sugere.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40" y="2921256"/>
            <a:ext cx="12350257" cy="6971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87"/>
              </a:lnSpc>
              <a:spcBef>
                <a:spcPts val="0"/>
              </a:spcBef>
              <a:spcAft>
                <a:spcPts val="0"/>
              </a:spcAft>
            </a:pPr>
            <a:r>
              <a:rPr sz="3467" b="0">
                <a:solidFill>
                  <a:srgbClr val="0F1108"/>
                </a:solidFill>
                <a:latin typeface="Outfit Medium"/>
              </a:rPr>
              <a:t>O especialista compreende, decide e assume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40" y="3427688"/>
            <a:ext cx="2556200" cy="6971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87"/>
              </a:lnSpc>
              <a:spcBef>
                <a:spcPts val="0"/>
              </a:spcBef>
              <a:spcAft>
                <a:spcPts val="0"/>
              </a:spcAft>
            </a:pPr>
            <a:r>
              <a:rPr sz="3467" b="0">
                <a:solidFill>
                  <a:srgbClr val="0F1108"/>
                </a:solidFill>
                <a:latin typeface="Outfit Medium"/>
              </a:rPr>
              <a:t>controle.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4238744"/>
            <a:ext cx="3594496" cy="24103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073" b="0">
                <a:solidFill>
                  <a:srgbClr val="290241"/>
                </a:solidFill>
                <a:latin typeface="Outfit SemiBold"/>
              </a:rPr>
              <a:t>MANIFESTO NEURALMIND.AI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3440" y="2344816"/>
            <a:ext cx="2205656" cy="23317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031" b="0">
                <a:solidFill>
                  <a:srgbClr val="290241"/>
                </a:solidFill>
                <a:latin typeface="Outfit SemiBold"/>
              </a:rPr>
              <a:t>POSICIONAMENTO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40" y="2730103"/>
            <a:ext cx="3696342" cy="8858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1"/>
              </a:lnSpc>
              <a:spcBef>
                <a:spcPts val="0"/>
              </a:spcBef>
              <a:spcAft>
                <a:spcPts val="0"/>
              </a:spcAft>
            </a:pPr>
            <a:r>
              <a:rPr sz="4458" b="0">
                <a:solidFill>
                  <a:srgbClr val="0F1108"/>
                </a:solidFill>
                <a:latin typeface="Outfit Medium"/>
              </a:rPr>
              <a:t>Confiança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40" y="3324609"/>
            <a:ext cx="4496109" cy="8858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1"/>
              </a:lnSpc>
              <a:spcBef>
                <a:spcPts val="0"/>
              </a:spcBef>
              <a:spcAft>
                <a:spcPts val="0"/>
              </a:spcAft>
            </a:pPr>
            <a:r>
              <a:rPr sz="4458" b="0">
                <a:solidFill>
                  <a:srgbClr val="0F1108"/>
                </a:solidFill>
                <a:latin typeface="Outfit Medium"/>
              </a:rPr>
              <a:t>que pode 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3919115"/>
            <a:ext cx="3828859" cy="8858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1"/>
              </a:lnSpc>
              <a:spcBef>
                <a:spcPts val="0"/>
              </a:spcBef>
              <a:spcAft>
                <a:spcPts val="0"/>
              </a:spcAft>
            </a:pPr>
            <a:r>
              <a:rPr sz="4458" b="0">
                <a:solidFill>
                  <a:srgbClr val="0F1108"/>
                </a:solidFill>
                <a:latin typeface="Outfit Medium"/>
              </a:rPr>
              <a:t>verificada.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9267" y="2378392"/>
            <a:ext cx="475273" cy="2646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75"/>
              </a:lnSpc>
              <a:spcBef>
                <a:spcPts val="0"/>
              </a:spcBef>
              <a:spcAft>
                <a:spcPts val="0"/>
              </a:spcAft>
            </a:pPr>
            <a:r>
              <a:rPr sz="1197" b="0">
                <a:solidFill>
                  <a:srgbClr val="EF476F"/>
                </a:solidFill>
                <a:latin typeface="Outfit Semi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3168" y="2325052"/>
            <a:ext cx="5550908" cy="34326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53"/>
              </a:lnSpc>
              <a:spcBef>
                <a:spcPts val="0"/>
              </a:spcBef>
              <a:spcAft>
                <a:spcPts val="0"/>
              </a:spcAft>
            </a:pPr>
            <a:r>
              <a:rPr sz="1609" b="0">
                <a:solidFill>
                  <a:srgbClr val="0F1108"/>
                </a:solidFill>
                <a:latin typeface="Outfit"/>
              </a:rPr>
              <a:t>Cada resposta carrega o trecho exato 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3168" y="2611296"/>
            <a:ext cx="2087641" cy="34326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53"/>
              </a:lnSpc>
              <a:spcBef>
                <a:spcPts val="0"/>
              </a:spcBef>
              <a:spcAft>
                <a:spcPts val="0"/>
              </a:spcAft>
            </a:pPr>
            <a:r>
              <a:rPr sz="1609" b="0">
                <a:solidFill>
                  <a:srgbClr val="0F1108"/>
                </a:solidFill>
                <a:latin typeface="Outfit"/>
              </a:rPr>
              <a:t>a fundamenta.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9267" y="3482340"/>
            <a:ext cx="514945" cy="2646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75"/>
              </a:lnSpc>
              <a:spcBef>
                <a:spcPts val="0"/>
              </a:spcBef>
              <a:spcAft>
                <a:spcPts val="0"/>
              </a:spcAft>
            </a:pPr>
            <a:r>
              <a:rPr sz="1197" b="0">
                <a:solidFill>
                  <a:srgbClr val="EF476F"/>
                </a:solidFill>
                <a:latin typeface="Outfit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3168" y="3429000"/>
            <a:ext cx="7245453" cy="34326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53"/>
              </a:lnSpc>
              <a:spcBef>
                <a:spcPts val="0"/>
              </a:spcBef>
              <a:spcAft>
                <a:spcPts val="0"/>
              </a:spcAft>
            </a:pPr>
            <a:r>
              <a:rPr sz="1609" b="0">
                <a:solidFill>
                  <a:srgbClr val="0F1108"/>
                </a:solidFill>
                <a:latin typeface="Outfit"/>
              </a:rPr>
              <a:t>Modelos especializados em domínio — não generalistas.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69267" y="4300180"/>
            <a:ext cx="514278" cy="2646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75"/>
              </a:lnSpc>
              <a:spcBef>
                <a:spcPts val="0"/>
              </a:spcBef>
              <a:spcAft>
                <a:spcPts val="0"/>
              </a:spcAft>
            </a:pPr>
            <a:r>
              <a:rPr sz="1197" b="0">
                <a:solidFill>
                  <a:srgbClr val="EF476F"/>
                </a:solidFill>
                <a:latin typeface="Outfit Semi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3168" y="4246840"/>
            <a:ext cx="6973585" cy="34326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53"/>
              </a:lnSpc>
              <a:spcBef>
                <a:spcPts val="0"/>
              </a:spcBef>
              <a:spcAft>
                <a:spcPts val="0"/>
              </a:spcAft>
            </a:pPr>
            <a:r>
              <a:rPr sz="1609" b="0">
                <a:solidFill>
                  <a:srgbClr val="0F1108"/>
                </a:solidFill>
                <a:latin typeface="Outfit"/>
              </a:rPr>
              <a:t>Operação auditável e em conformidade com a LGPD.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3440" y="1527929"/>
            <a:ext cx="4659796" cy="2567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155" b="0">
                <a:solidFill>
                  <a:srgbClr val="9381FF"/>
                </a:solidFill>
                <a:latin typeface="Outfit SemiBold"/>
              </a:rPr>
              <a:t>RESULTADO · NEURALSEARCHX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40" y="1493758"/>
            <a:ext cx="2018466" cy="381121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436"/>
              </a:lnSpc>
              <a:spcBef>
                <a:spcPts val="0"/>
              </a:spcBef>
              <a:spcAft>
                <a:spcPts val="0"/>
              </a:spcAft>
            </a:pPr>
            <a:r>
              <a:rPr sz="19814" b="0">
                <a:solidFill>
                  <a:srgbClr val="FFFFFC"/>
                </a:solidFill>
                <a:latin typeface="Urbanist Medium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3019" y="2728198"/>
            <a:ext cx="1078015" cy="223845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71"/>
              </a:lnSpc>
              <a:spcBef>
                <a:spcPts val="0"/>
              </a:spcBef>
              <a:spcAft>
                <a:spcPts val="0"/>
              </a:spcAft>
            </a:pPr>
            <a:r>
              <a:rPr sz="11558" b="0">
                <a:solidFill>
                  <a:srgbClr val="EF476F"/>
                </a:solidFill>
                <a:latin typeface="Urbanist Medium"/>
              </a:rPr>
              <a:t>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4433887"/>
            <a:ext cx="6522362" cy="33540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1568" b="0">
                <a:solidFill>
                  <a:srgbClr val="FFFFFC"/>
                </a:solidFill>
                <a:latin typeface="Outfit"/>
              </a:rPr>
              <a:t>Redução de latência da busca semântica multifonte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" y="4732713"/>
            <a:ext cx="5423558" cy="33540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1568" b="0">
                <a:solidFill>
                  <a:srgbClr val="FFFFFC"/>
                </a:solidFill>
                <a:latin typeface="Outfit"/>
              </a:rPr>
              <a:t>na nova arquitetura, sem perda de citação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40" y="5031539"/>
            <a:ext cx="2541531" cy="33540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1568" b="0">
                <a:solidFill>
                  <a:srgbClr val="FFFFFC"/>
                </a:solidFill>
                <a:latin typeface="Outfit"/>
              </a:rPr>
              <a:t>ou rastreabilidade.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3440" y="731520"/>
            <a:ext cx="2522029" cy="23317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031" b="0">
                <a:solidFill>
                  <a:srgbClr val="290241"/>
                </a:solidFill>
                <a:latin typeface="Outfit SemiBold"/>
              </a:rPr>
              <a:t>FLUXO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40" y="1074777"/>
            <a:ext cx="8364259" cy="66568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7"/>
              </a:lnSpc>
              <a:spcBef>
                <a:spcPts val="0"/>
              </a:spcBef>
              <a:spcAft>
                <a:spcPts val="0"/>
              </a:spcAft>
            </a:pPr>
            <a:r>
              <a:rPr sz="3302" b="0">
                <a:solidFill>
                  <a:srgbClr val="0F1108"/>
                </a:solidFill>
                <a:latin typeface="Outfit Medium"/>
              </a:rPr>
              <a:t>Da pergunta à decisão auditável.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40" y="4972288"/>
            <a:ext cx="452770" cy="23317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031" b="0">
                <a:solidFill>
                  <a:srgbClr val="EF476F"/>
                </a:solidFill>
                <a:latin typeface="Outfit Semi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5273635"/>
            <a:ext cx="2809065" cy="414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sz="1981" b="0">
                <a:solidFill>
                  <a:srgbClr val="0F1108"/>
                </a:solidFill>
                <a:latin typeface="Outfit Medium"/>
              </a:rPr>
              <a:t>Pergunta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" y="5655230"/>
            <a:ext cx="3588329" cy="2803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279" b="0">
                <a:solidFill>
                  <a:srgbClr val="0F1108"/>
                </a:solidFill>
                <a:latin typeface="Outfit"/>
              </a:rPr>
              <a:t>O usuário descreve a necessidade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40" y="5890883"/>
            <a:ext cx="2481691" cy="2803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279" b="0">
                <a:solidFill>
                  <a:srgbClr val="0F1108"/>
                </a:solidFill>
                <a:latin typeface="Outfit"/>
              </a:rPr>
              <a:t>em linguagem comum.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0204" y="4972288"/>
            <a:ext cx="486941" cy="23317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031" b="0">
                <a:solidFill>
                  <a:srgbClr val="EF476F"/>
                </a:solidFill>
                <a:latin typeface="Outfit Semi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0204" y="5273635"/>
            <a:ext cx="2785729" cy="414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sz="1981" b="0">
                <a:solidFill>
                  <a:srgbClr val="0F1108"/>
                </a:solidFill>
                <a:latin typeface="Outfit Medium"/>
              </a:rPr>
              <a:t>Busca semântica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0204" y="5655230"/>
            <a:ext cx="3539990" cy="2803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279" b="0">
                <a:solidFill>
                  <a:srgbClr val="0F1108"/>
                </a:solidFill>
                <a:latin typeface="Outfit"/>
              </a:rPr>
              <a:t>Recuperação em múltiplas 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0204" y="5890883"/>
            <a:ext cx="3122937" cy="2803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279" b="0">
                <a:solidFill>
                  <a:srgbClr val="0F1108"/>
                </a:solidFill>
                <a:latin typeface="Outfit"/>
              </a:rPr>
              <a:t>com citação do trecho exato.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6968" y="4972288"/>
            <a:ext cx="486441" cy="23317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031" b="0">
                <a:solidFill>
                  <a:srgbClr val="EF476F"/>
                </a:solidFill>
                <a:latin typeface="Outfit Semi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6968" y="5273635"/>
            <a:ext cx="2994588" cy="414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sz="1981" b="0">
                <a:solidFill>
                  <a:srgbClr val="0F1108"/>
                </a:solidFill>
                <a:latin typeface="Outfit Medium"/>
              </a:rPr>
              <a:t>Síntese contextual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6968" y="5655230"/>
            <a:ext cx="3475648" cy="2803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279" b="0">
                <a:solidFill>
                  <a:srgbClr val="0F1108"/>
                </a:solidFill>
                <a:latin typeface="Outfit"/>
              </a:rPr>
              <a:t>Resposta consolidada, vinculada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6968" y="5890883"/>
            <a:ext cx="2046303" cy="2803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279" b="0">
                <a:solidFill>
                  <a:srgbClr val="0F1108"/>
                </a:solidFill>
                <a:latin typeface="Outfit"/>
              </a:rPr>
              <a:t>a cada referência.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3733" y="4972288"/>
            <a:ext cx="496276" cy="23317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031" b="0">
                <a:solidFill>
                  <a:srgbClr val="EF476F"/>
                </a:solidFill>
                <a:latin typeface="Outfit Semi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3733" y="5273635"/>
            <a:ext cx="3072098" cy="414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sz="1981" b="0">
                <a:solidFill>
                  <a:srgbClr val="0F1108"/>
                </a:solidFill>
                <a:latin typeface="Outfit Medium"/>
              </a:rPr>
              <a:t>Validação humana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3733" y="5655230"/>
            <a:ext cx="3213282" cy="2803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279" b="0">
                <a:solidFill>
                  <a:srgbClr val="0F1108"/>
                </a:solidFill>
                <a:latin typeface="Outfit"/>
              </a:rPr>
              <a:t>O especialista revisa, decide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3733" y="5890883"/>
            <a:ext cx="2088642" cy="2803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279" b="0">
                <a:solidFill>
                  <a:srgbClr val="0F1108"/>
                </a:solidFill>
                <a:latin typeface="Outfit"/>
              </a:rPr>
              <a:t>assume o controle.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3440" y="1950481"/>
            <a:ext cx="1992296" cy="23317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031" b="0">
                <a:solidFill>
                  <a:srgbClr val="EF476F"/>
                </a:solidFill>
                <a:latin typeface="Outfit SemiBold"/>
              </a:rPr>
              <a:t>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40" y="2335768"/>
            <a:ext cx="3627834" cy="129479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4"/>
              </a:lnSpc>
              <a:spcBef>
                <a:spcPts val="0"/>
              </a:spcBef>
              <a:spcAft>
                <a:spcPts val="0"/>
              </a:spcAft>
            </a:pPr>
            <a:r>
              <a:rPr sz="6604" b="0">
                <a:solidFill>
                  <a:srgbClr val="FFFFFC"/>
                </a:solidFill>
                <a:latin typeface="Outfit Medium"/>
              </a:rPr>
              <a:t>Vamos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40" y="3174577"/>
            <a:ext cx="8103060" cy="129479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4"/>
              </a:lnSpc>
              <a:spcBef>
                <a:spcPts val="0"/>
              </a:spcBef>
              <a:spcAft>
                <a:spcPts val="0"/>
              </a:spcAft>
            </a:pPr>
            <a:r>
              <a:rPr sz="6604" b="0">
                <a:solidFill>
                  <a:srgbClr val="FFFFFC"/>
                </a:solidFill>
                <a:latin typeface="Outfit Medium"/>
              </a:rPr>
              <a:t>construir juntos.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0336" y="2270760"/>
            <a:ext cx="1505069" cy="2253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8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9381FF"/>
                </a:solidFill>
                <a:latin typeface="Outfit SemiBold"/>
              </a:rPr>
              <a:t>COMERCIAL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0336" y="2522339"/>
            <a:ext cx="3501985" cy="3825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24"/>
              </a:lnSpc>
              <a:spcBef>
                <a:spcPts val="0"/>
              </a:spcBef>
              <a:spcAft>
                <a:spcPts val="0"/>
              </a:spcAft>
            </a:pPr>
            <a:r>
              <a:rPr sz="1816" b="0">
                <a:solidFill>
                  <a:srgbClr val="FFFFFC"/>
                </a:solidFill>
                <a:latin typeface="Outfit Medium"/>
              </a:rPr>
              <a:t>contato@neuralmind.ai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0336" y="3130272"/>
            <a:ext cx="692634" cy="2253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8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9381FF"/>
                </a:solidFill>
                <a:latin typeface="Outfit SemiBold"/>
              </a:rPr>
              <a:t>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0336" y="3381851"/>
            <a:ext cx="2161151" cy="3825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24"/>
              </a:lnSpc>
              <a:spcBef>
                <a:spcPts val="0"/>
              </a:spcBef>
              <a:spcAft>
                <a:spcPts val="0"/>
              </a:spcAft>
            </a:pPr>
            <a:r>
              <a:rPr sz="1816" b="0">
                <a:solidFill>
                  <a:srgbClr val="FFFFFC"/>
                </a:solidFill>
                <a:latin typeface="Outfit Medium"/>
              </a:rPr>
              <a:t>neuralmind.ai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0336" y="3989784"/>
            <a:ext cx="1267205" cy="2253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8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9381FF"/>
                </a:solidFill>
                <a:latin typeface="Outfit SemiBold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0336" y="4241363"/>
            <a:ext cx="2397513" cy="3825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24"/>
              </a:lnSpc>
              <a:spcBef>
                <a:spcPts val="0"/>
              </a:spcBef>
              <a:spcAft>
                <a:spcPts val="0"/>
              </a:spcAft>
            </a:pPr>
            <a:r>
              <a:rPr sz="1816" b="0">
                <a:solidFill>
                  <a:srgbClr val="FFFFFC"/>
                </a:solidFill>
                <a:latin typeface="Outfit Medium"/>
              </a:rPr>
              <a:t>@neuralmind.ai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0" y="1173599"/>
            <a:ext cx="1331880" cy="2651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F476F"/>
                </a:solidFill>
                <a:latin typeface="Outfit SemiBold"/>
              </a:rPr>
              <a:t>PESSOAS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0" y="1694735"/>
            <a:ext cx="2463522" cy="10424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280"/>
              </a:lnSpc>
              <a:spcBef>
                <a:spcPts val="0"/>
              </a:spcBef>
              <a:spcAft>
                <a:spcPts val="0"/>
              </a:spcAft>
            </a:pPr>
            <a:r>
              <a:rPr sz="5280" b="0">
                <a:solidFill>
                  <a:srgbClr val="FFFFFC"/>
                </a:solidFill>
                <a:latin typeface="Outfit Medium"/>
              </a:rPr>
              <a:t>A IA 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365295"/>
            <a:ext cx="4239744" cy="10424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280"/>
              </a:lnSpc>
              <a:spcBef>
                <a:spcPts val="0"/>
              </a:spcBef>
              <a:spcAft>
                <a:spcPts val="0"/>
              </a:spcAft>
            </a:pPr>
            <a:r>
              <a:rPr sz="5280" b="0">
                <a:solidFill>
                  <a:srgbClr val="FFFFFC"/>
                </a:solidFill>
                <a:latin typeface="Outfit Medium"/>
              </a:rPr>
              <a:t>poderosa.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035855"/>
            <a:ext cx="4797480" cy="10424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280"/>
              </a:lnSpc>
              <a:spcBef>
                <a:spcPts val="0"/>
              </a:spcBef>
              <a:spcAft>
                <a:spcPts val="0"/>
              </a:spcAft>
            </a:pPr>
            <a:r>
              <a:rPr sz="5280" b="0">
                <a:solidFill>
                  <a:srgbClr val="FFFFFC"/>
                </a:solidFill>
                <a:latin typeface="Outfit Medium"/>
              </a:rPr>
              <a:t>As pessoas,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706415"/>
            <a:ext cx="6144648" cy="10424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280"/>
              </a:lnSpc>
              <a:spcBef>
                <a:spcPts val="0"/>
              </a:spcBef>
              <a:spcAft>
                <a:spcPts val="0"/>
              </a:spcAft>
            </a:pPr>
            <a:r>
              <a:rPr sz="5280" b="0">
                <a:solidFill>
                  <a:srgbClr val="FFFFFC"/>
                </a:solidFill>
                <a:latin typeface="Outfit Medium"/>
              </a:rPr>
              <a:t>indispensáveis.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4669512"/>
            <a:ext cx="4951833" cy="3749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63"/>
              </a:lnSpc>
              <a:spcBef>
                <a:spcPts val="0"/>
              </a:spcBef>
              <a:spcAft>
                <a:spcPts val="0"/>
              </a:spcAft>
            </a:pPr>
            <a:r>
              <a:rPr sz="1776" b="0">
                <a:solidFill>
                  <a:srgbClr val="FFFFFC"/>
                </a:solidFill>
                <a:latin typeface="Outfit"/>
              </a:rPr>
              <a:t>Construímos modelos para apoiar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5007840"/>
            <a:ext cx="5758100" cy="3749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63"/>
              </a:lnSpc>
              <a:spcBef>
                <a:spcPts val="0"/>
              </a:spcBef>
              <a:spcAft>
                <a:spcPts val="0"/>
              </a:spcAft>
            </a:pPr>
            <a:r>
              <a:rPr sz="1776" b="0">
                <a:solidFill>
                  <a:srgbClr val="FFFFFC"/>
                </a:solidFill>
                <a:latin typeface="Outfit"/>
              </a:rPr>
              <a:t>especialistas — não para substituí-los.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5346168"/>
            <a:ext cx="5963959" cy="3749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63"/>
              </a:lnSpc>
              <a:spcBef>
                <a:spcPts val="0"/>
              </a:spcBef>
              <a:spcAft>
                <a:spcPts val="0"/>
              </a:spcAft>
            </a:pPr>
            <a:r>
              <a:rPr sz="1776" b="0">
                <a:solidFill>
                  <a:srgbClr val="FFFFFC"/>
                </a:solidFill>
                <a:latin typeface="Outfit"/>
              </a:rPr>
              <a:t>última palavra é, e segue sendo, humana.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624" y="885825"/>
            <a:ext cx="1931955" cy="2651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0241"/>
                </a:solidFill>
                <a:latin typeface="Outfit SemiBold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24" y="1358265"/>
            <a:ext cx="6030634" cy="8961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331"/>
              </a:lnSpc>
              <a:spcBef>
                <a:spcPts val="0"/>
              </a:spcBef>
              <a:spcAft>
                <a:spcPts val="0"/>
              </a:spcAft>
            </a:pPr>
            <a:r>
              <a:rPr sz="4512" b="0">
                <a:solidFill>
                  <a:srgbClr val="0F1108"/>
                </a:solidFill>
                <a:latin typeface="Outfit Medium"/>
              </a:rPr>
              <a:t>Ciência aplicada.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24" y="1908368"/>
            <a:ext cx="6197488" cy="8961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331"/>
              </a:lnSpc>
              <a:spcBef>
                <a:spcPts val="0"/>
              </a:spcBef>
              <a:spcAft>
                <a:spcPts val="0"/>
              </a:spcAft>
            </a:pPr>
            <a:r>
              <a:rPr sz="4512" b="0">
                <a:solidFill>
                  <a:srgbClr val="0F1108"/>
                </a:solidFill>
                <a:latin typeface="Outfit Medium"/>
              </a:rPr>
              <a:t>Responsabilidade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24" y="2458471"/>
            <a:ext cx="1745099" cy="8961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331"/>
              </a:lnSpc>
              <a:spcBef>
                <a:spcPts val="0"/>
              </a:spcBef>
              <a:spcAft>
                <a:spcPts val="0"/>
              </a:spcAft>
            </a:pPr>
            <a:r>
              <a:rPr sz="4512" b="0">
                <a:solidFill>
                  <a:srgbClr val="0F1108"/>
                </a:solidFill>
                <a:latin typeface="Outfit Medium"/>
              </a:rPr>
              <a:t>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24" y="3252311"/>
            <a:ext cx="5895784" cy="3566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F1108"/>
                </a:solidFill>
                <a:latin typeface="Outfit"/>
              </a:rPr>
              <a:t>Fundada por Patricia Magalhães e Roberto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24" y="3583019"/>
            <a:ext cx="5787437" cy="3566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F1108"/>
                </a:solidFill>
                <a:latin typeface="Outfit"/>
              </a:rPr>
              <a:t>Lotufo, a NeuralMind transforma pesquisa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24" y="3913727"/>
            <a:ext cx="5093517" cy="3566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F1108"/>
                </a:solidFill>
                <a:latin typeface="Outfit"/>
              </a:rPr>
              <a:t>em inteligência confiável para apoiar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24" y="4244435"/>
            <a:ext cx="6161484" cy="3566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F1108"/>
                </a:solidFill>
                <a:latin typeface="Outfit"/>
              </a:rPr>
              <a:t>organizações diante de decisões complexas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24" y="4575143"/>
            <a:ext cx="2348507" cy="3566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F1108"/>
                </a:solidFill>
                <a:latin typeface="Outfit"/>
              </a:rPr>
              <a:t>de alto impacto.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164" y="5222438"/>
            <a:ext cx="2122812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290241"/>
                </a:solidFill>
                <a:latin typeface="Outfit"/>
              </a:rPr>
              <a:t>RIGOR CIENTÍFICO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7830" y="5222438"/>
            <a:ext cx="2084141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290241"/>
                </a:solidFill>
                <a:latin typeface="Outfit"/>
              </a:rPr>
              <a:t>DECISÃO HUMANA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164" y="5639871"/>
            <a:ext cx="2440185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290241"/>
                </a:solidFill>
                <a:latin typeface="Outfit"/>
              </a:rPr>
              <a:t>SETORES REGULADOS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570" y="5621059"/>
            <a:ext cx="2887408" cy="3749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63"/>
              </a:lnSpc>
              <a:spcBef>
                <a:spcPts val="0"/>
              </a:spcBef>
              <a:spcAft>
                <a:spcPts val="0"/>
              </a:spcAft>
            </a:pPr>
            <a:r>
              <a:rPr sz="1776" b="0">
                <a:solidFill>
                  <a:srgbClr val="FFFFFC"/>
                </a:solidFill>
                <a:latin typeface="Outfit Medium"/>
              </a:rPr>
              <a:t>Patricia Magalhães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6570" y="6003131"/>
            <a:ext cx="2443853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EF476F"/>
                </a:solidFill>
                <a:latin typeface="Outfit SemiBold"/>
              </a:rPr>
              <a:t>CO-FUNDADORA &amp; CEO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2667" y="5621059"/>
            <a:ext cx="2309336" cy="3749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63"/>
              </a:lnSpc>
              <a:spcBef>
                <a:spcPts val="0"/>
              </a:spcBef>
              <a:spcAft>
                <a:spcPts val="0"/>
              </a:spcAft>
            </a:pPr>
            <a:r>
              <a:rPr sz="1776" b="0">
                <a:solidFill>
                  <a:srgbClr val="FFFFFC"/>
                </a:solidFill>
                <a:latin typeface="Outfit Medium"/>
              </a:rPr>
              <a:t>Roberto Lotufo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2667" y="6003131"/>
            <a:ext cx="231417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EF476F"/>
                </a:solidFill>
                <a:latin typeface="Outfit SemiBold"/>
              </a:rPr>
              <a:t>CO-FUNDADOR &amp; CTO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3440" y="853440"/>
            <a:ext cx="2284333" cy="2651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F476F"/>
                </a:solidFill>
                <a:latin typeface="Outfit SemiBold"/>
              </a:rPr>
              <a:t>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40" y="1325880"/>
            <a:ext cx="3687508" cy="131673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720" b="0">
                <a:solidFill>
                  <a:srgbClr val="FFFFFC"/>
                </a:solidFill>
                <a:latin typeface="Outfit Medium"/>
              </a:rPr>
              <a:t>Vamos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40" y="2179320"/>
            <a:ext cx="8240910" cy="131673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720" b="0">
                <a:solidFill>
                  <a:srgbClr val="FFFFFC"/>
                </a:solidFill>
                <a:latin typeface="Outfit Medium"/>
              </a:rPr>
              <a:t>construir juntos.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17812" y="5355312"/>
            <a:ext cx="1653920" cy="246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  <a:spcBef>
                <a:spcPts val="0"/>
              </a:spcBef>
              <a:spcAft>
                <a:spcPts val="0"/>
              </a:spcAft>
            </a:pPr>
            <a:r>
              <a:rPr sz="1104" b="0">
                <a:solidFill>
                  <a:srgbClr val="FFFFFC"/>
                </a:solidFill>
                <a:latin typeface="Outfit SemiBold"/>
              </a:rPr>
              <a:t>COMERCIAL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750" y="5638800"/>
            <a:ext cx="3691008" cy="40233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FFFFFC"/>
                </a:solidFill>
                <a:latin typeface="Outfit Medium"/>
              </a:rPr>
              <a:t>contato@neuralmind.ai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1011" y="5355312"/>
            <a:ext cx="748307" cy="246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  <a:spcBef>
                <a:spcPts val="0"/>
              </a:spcBef>
              <a:spcAft>
                <a:spcPts val="0"/>
              </a:spcAft>
            </a:pPr>
            <a:r>
              <a:rPr sz="1104" b="0">
                <a:solidFill>
                  <a:srgbClr val="FFFFFC"/>
                </a:solidFill>
                <a:latin typeface="Outfit SemiBold"/>
              </a:rPr>
              <a:t>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61827" y="5638800"/>
            <a:ext cx="2273165" cy="40233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FFFFFC"/>
                </a:solidFill>
                <a:latin typeface="Outfit Medium"/>
              </a:rPr>
              <a:t>neuralmind.ai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5808" y="707112"/>
            <a:ext cx="2852904" cy="236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51" b="0">
                <a:solidFill>
                  <a:srgbClr val="290241"/>
                </a:solidFill>
                <a:latin typeface="Outfit SemiBold"/>
              </a:rPr>
              <a:t>PROCESSO EM 3 ETAPAS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5808" y="1313021"/>
            <a:ext cx="6011465" cy="79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14"/>
              </a:lnSpc>
              <a:spcBef>
                <a:spcPts val="0"/>
              </a:spcBef>
              <a:spcAft>
                <a:spcPts val="0"/>
              </a:spcAft>
            </a:pPr>
            <a:r>
              <a:rPr sz="3994" b="0">
                <a:solidFill>
                  <a:srgbClr val="0F1108"/>
                </a:solidFill>
                <a:latin typeface="Outfit Medium"/>
              </a:rPr>
              <a:t>Da complexidade 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5808" y="1810192"/>
            <a:ext cx="6316837" cy="79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14"/>
              </a:lnSpc>
              <a:spcBef>
                <a:spcPts val="0"/>
              </a:spcBef>
              <a:spcAft>
                <a:spcPts val="0"/>
              </a:spcAft>
            </a:pPr>
            <a:r>
              <a:rPr sz="3994" b="0">
                <a:solidFill>
                  <a:srgbClr val="0F1108"/>
                </a:solidFill>
                <a:latin typeface="Outfit Medium"/>
              </a:rPr>
              <a:t>clareza para decidir.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27977" y="1810702"/>
            <a:ext cx="6255829" cy="28489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303" b="0">
                <a:solidFill>
                  <a:srgbClr val="0F1108"/>
                </a:solidFill>
                <a:latin typeface="Outfit"/>
              </a:rPr>
              <a:t>Modelo para explicar jornadas curtas, pipelines comerciais,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27977" y="2059021"/>
            <a:ext cx="4164068" cy="28489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303" b="0">
                <a:solidFill>
                  <a:srgbClr val="0F1108"/>
                </a:solidFill>
                <a:latin typeface="Outfit"/>
              </a:rPr>
              <a:t>onboarding ou etapas de implantação.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204" y="4236124"/>
            <a:ext cx="404598" cy="2047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24"/>
              </a:lnSpc>
              <a:spcBef>
                <a:spcPts val="0"/>
              </a:spcBef>
              <a:spcAft>
                <a:spcPts val="0"/>
              </a:spcAft>
            </a:pPr>
            <a:r>
              <a:rPr sz="883" b="0">
                <a:solidFill>
                  <a:srgbClr val="FFFFFC"/>
                </a:solidFill>
                <a:latin typeface="Outfit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7026" y="4787026"/>
            <a:ext cx="1506735" cy="43709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53"/>
              </a:lnSpc>
              <a:spcBef>
                <a:spcPts val="0"/>
              </a:spcBef>
              <a:spcAft>
                <a:spcPts val="0"/>
              </a:spcAft>
            </a:pPr>
            <a:r>
              <a:rPr sz="2102" b="0">
                <a:solidFill>
                  <a:srgbClr val="0F1108"/>
                </a:solidFill>
                <a:latin typeface="Outfit Medium"/>
              </a:rPr>
              <a:t>Mapear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7026" y="5321022"/>
            <a:ext cx="3694009" cy="24804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Outfit"/>
              </a:rPr>
              <a:t>Identificamos fontes, regras de negócio,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7026" y="5524034"/>
            <a:ext cx="3053762" cy="24804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Outfit"/>
              </a:rPr>
              <a:t>usuários e pontos de decisão 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7026" y="5727047"/>
            <a:ext cx="2281666" cy="24804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Outfit"/>
              </a:rPr>
              <a:t>exigem rastreabilidade.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369" y="4236124"/>
            <a:ext cx="433768" cy="2047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24"/>
              </a:lnSpc>
              <a:spcBef>
                <a:spcPts val="0"/>
              </a:spcBef>
              <a:spcAft>
                <a:spcPts val="0"/>
              </a:spcAft>
            </a:pPr>
            <a:r>
              <a:rPr sz="883" b="0">
                <a:solidFill>
                  <a:srgbClr val="FFFFFC"/>
                </a:solidFill>
                <a:latin typeface="Outfit Semi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668" y="4787026"/>
            <a:ext cx="1732097" cy="43709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53"/>
              </a:lnSpc>
              <a:spcBef>
                <a:spcPts val="0"/>
              </a:spcBef>
              <a:spcAft>
                <a:spcPts val="0"/>
              </a:spcAft>
            </a:pPr>
            <a:r>
              <a:rPr sz="2102" b="0">
                <a:solidFill>
                  <a:srgbClr val="0F1108"/>
                </a:solidFill>
                <a:latin typeface="Outfit Medium"/>
              </a:rPr>
              <a:t>Construir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8668" y="5321022"/>
            <a:ext cx="4061055" cy="24804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Outfit"/>
              </a:rPr>
              <a:t>Combinamos modelos especializados, busca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8668" y="5524034"/>
            <a:ext cx="4053220" cy="24804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Outfit"/>
              </a:rPr>
              <a:t>semântica e agentes para criar uma solução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8668" y="5727047"/>
            <a:ext cx="1278207" cy="24804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Outfit"/>
              </a:rPr>
              <a:t>sob medida.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9368" y="4236124"/>
            <a:ext cx="433268" cy="2047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24"/>
              </a:lnSpc>
              <a:spcBef>
                <a:spcPts val="0"/>
              </a:spcBef>
              <a:spcAft>
                <a:spcPts val="0"/>
              </a:spcAft>
            </a:pPr>
            <a:r>
              <a:rPr sz="883" b="0">
                <a:solidFill>
                  <a:srgbClr val="FFFFFC"/>
                </a:solidFill>
                <a:latin typeface="Outfit Semi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0429" y="4787026"/>
            <a:ext cx="1387054" cy="43709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53"/>
              </a:lnSpc>
              <a:spcBef>
                <a:spcPts val="0"/>
              </a:spcBef>
              <a:spcAft>
                <a:spcPts val="0"/>
              </a:spcAft>
            </a:pPr>
            <a:r>
              <a:rPr sz="2102" b="0">
                <a:solidFill>
                  <a:srgbClr val="0F1108"/>
                </a:solidFill>
                <a:latin typeface="Outfit Medium"/>
              </a:rPr>
              <a:t>Validar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429" y="5321022"/>
            <a:ext cx="3725513" cy="24804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Outfit"/>
              </a:rPr>
              <a:t>Especialistas revisam saídas, monitoram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429" y="5524034"/>
            <a:ext cx="2976419" cy="24804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Outfit"/>
              </a:rPr>
              <a:t>qualidade e transformam IA 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0429" y="5727047"/>
            <a:ext cx="1937123" cy="24804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Outfit"/>
              </a:rPr>
              <a:t>operação confiável.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5808" y="682704"/>
            <a:ext cx="3289958" cy="236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51" b="0">
                <a:solidFill>
                  <a:srgbClr val="EF476F"/>
                </a:solidFill>
                <a:latin typeface="Outfit SemiBold"/>
              </a:rPr>
              <a:t>ARQUITETURA DE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5808" y="1288613"/>
            <a:ext cx="2803397" cy="12541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752"/>
              </a:lnSpc>
              <a:spcBef>
                <a:spcPts val="0"/>
              </a:spcBef>
              <a:spcAft>
                <a:spcPts val="0"/>
              </a:spcAft>
            </a:pPr>
            <a:r>
              <a:rPr sz="6391" b="0">
                <a:solidFill>
                  <a:srgbClr val="FFFFFC"/>
                </a:solidFill>
                <a:latin typeface="Outfit Medium"/>
              </a:rPr>
              <a:t>Araci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2282" y="1452205"/>
            <a:ext cx="6787729" cy="3970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sz="1892" b="0">
                <a:solidFill>
                  <a:srgbClr val="FFFFFC"/>
                </a:solidFill>
                <a:latin typeface="Outfit"/>
              </a:rPr>
              <a:t>Decision Intelligence para o trabalho jurídico,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2282" y="1735769"/>
            <a:ext cx="4666964" cy="39703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sz="1892" b="0">
                <a:solidFill>
                  <a:srgbClr val="FFFFFC"/>
                </a:solidFill>
                <a:latin typeface="Outfit"/>
              </a:rPr>
              <a:t>com NeuralSearchX + Jurema.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56991" y="2846189"/>
            <a:ext cx="1994963" cy="180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35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EF476F"/>
                </a:solidFill>
                <a:latin typeface="Outfit"/>
              </a:rPr>
              <a:t>PRODUTO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4265" y="3080980"/>
            <a:ext cx="1722596" cy="7414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15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FFFFFC"/>
                </a:solidFill>
                <a:latin typeface="Outfit Medium"/>
              </a:rPr>
              <a:t>Araci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9947" y="3618071"/>
            <a:ext cx="5122521" cy="236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71"/>
              </a:lnSpc>
              <a:spcBef>
                <a:spcPts val="0"/>
              </a:spcBef>
              <a:spcAft>
                <a:spcPts val="0"/>
              </a:spcAft>
            </a:pPr>
            <a:r>
              <a:rPr sz="1051" b="0">
                <a:solidFill>
                  <a:srgbClr val="FFFFFC"/>
                </a:solidFill>
                <a:latin typeface="Outfit"/>
              </a:rPr>
              <a:t>Análise, fundamentos e minutas com rastreabilidade para 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91770" y="3804977"/>
            <a:ext cx="1617416" cy="236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71"/>
              </a:lnSpc>
              <a:spcBef>
                <a:spcPts val="0"/>
              </a:spcBef>
              <a:spcAft>
                <a:spcPts val="0"/>
              </a:spcAft>
            </a:pPr>
            <a:r>
              <a:rPr sz="1051" b="0">
                <a:solidFill>
                  <a:srgbClr val="FFFFFC"/>
                </a:solidFill>
                <a:latin typeface="Outfit"/>
              </a:rPr>
              <a:t>trabalho jurídico.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641" y="5010150"/>
            <a:ext cx="2071306" cy="180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35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9381FF"/>
                </a:solidFill>
                <a:latin typeface="Outfit"/>
              </a:rPr>
              <a:t>BUSCA PROPRIETÁRIA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641" y="5237321"/>
            <a:ext cx="2246828" cy="36499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86"/>
              </a:lnSpc>
              <a:spcBef>
                <a:spcPts val="0"/>
              </a:spcBef>
              <a:spcAft>
                <a:spcPts val="0"/>
              </a:spcAft>
            </a:pPr>
            <a:r>
              <a:rPr sz="1723" b="0">
                <a:solidFill>
                  <a:srgbClr val="FFFFFC"/>
                </a:solidFill>
                <a:latin typeface="Outfit Medium"/>
              </a:rPr>
              <a:t>NeuralSearchX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641" y="5645705"/>
            <a:ext cx="4281916" cy="2192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61"/>
              </a:lnSpc>
              <a:spcBef>
                <a:spcPts val="0"/>
              </a:spcBef>
              <a:spcAft>
                <a:spcPts val="0"/>
              </a:spcAft>
            </a:pPr>
            <a:r>
              <a:rPr sz="958" b="0">
                <a:solidFill>
                  <a:srgbClr val="FFFFFC"/>
                </a:solidFill>
                <a:latin typeface="Outfit"/>
              </a:rPr>
              <a:t>Recupera evidências, documentos e fontes verificáveis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641" y="5818599"/>
            <a:ext cx="1725930" cy="2192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61"/>
              </a:lnSpc>
              <a:spcBef>
                <a:spcPts val="0"/>
              </a:spcBef>
              <a:spcAft>
                <a:spcPts val="0"/>
              </a:spcAft>
            </a:pPr>
            <a:r>
              <a:rPr sz="958" b="0">
                <a:solidFill>
                  <a:srgbClr val="FFFFFC"/>
                </a:solidFill>
                <a:latin typeface="Outfit"/>
              </a:rPr>
              <a:t>para cada resposta.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258" y="5010150"/>
            <a:ext cx="2354508" cy="180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35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9381FF"/>
                </a:solidFill>
                <a:latin typeface="Outfit"/>
              </a:rPr>
              <a:t>MODELO ESPECIALIZADO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258" y="5237321"/>
            <a:ext cx="1226367" cy="36499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86"/>
              </a:lnSpc>
              <a:spcBef>
                <a:spcPts val="0"/>
              </a:spcBef>
              <a:spcAft>
                <a:spcPts val="0"/>
              </a:spcAft>
            </a:pPr>
            <a:r>
              <a:rPr sz="1723" b="0">
                <a:solidFill>
                  <a:srgbClr val="FFFFFC"/>
                </a:solidFill>
                <a:latin typeface="Outfit Medium"/>
              </a:rPr>
              <a:t>Jurema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258" y="5645705"/>
            <a:ext cx="3942707" cy="2192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61"/>
              </a:lnSpc>
              <a:spcBef>
                <a:spcPts val="0"/>
              </a:spcBef>
              <a:spcAft>
                <a:spcPts val="0"/>
              </a:spcAft>
            </a:pPr>
            <a:r>
              <a:rPr sz="958" b="0">
                <a:solidFill>
                  <a:srgbClr val="FFFFFC"/>
                </a:solidFill>
                <a:latin typeface="Outfit"/>
              </a:rPr>
              <a:t>LLM jurídico brasileiro para linguagem, doutrina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258" y="5818599"/>
            <a:ext cx="2121646" cy="2192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61"/>
              </a:lnSpc>
              <a:spcBef>
                <a:spcPts val="0"/>
              </a:spcBef>
              <a:spcAft>
                <a:spcPts val="0"/>
              </a:spcAft>
            </a:pPr>
            <a:r>
              <a:rPr sz="958" b="0">
                <a:solidFill>
                  <a:srgbClr val="FFFFFC"/>
                </a:solidFill>
                <a:latin typeface="Outfit"/>
              </a:rPr>
              <a:t>contexto normativo local.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8875" y="5010150"/>
            <a:ext cx="2224492" cy="180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35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9381FF"/>
                </a:solidFill>
                <a:latin typeface="Outfit"/>
              </a:rPr>
              <a:t>CAMADA OPERACIONAL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8875" y="5237321"/>
            <a:ext cx="2922746" cy="36499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86"/>
              </a:lnSpc>
              <a:spcBef>
                <a:spcPts val="0"/>
              </a:spcBef>
              <a:spcAft>
                <a:spcPts val="0"/>
              </a:spcAft>
            </a:pPr>
            <a:r>
              <a:rPr sz="1723" b="0">
                <a:solidFill>
                  <a:srgbClr val="FFFFFC"/>
                </a:solidFill>
                <a:latin typeface="Outfit Medium"/>
              </a:rPr>
              <a:t>Agentes &amp;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8875" y="5645705"/>
            <a:ext cx="4164234" cy="2192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61"/>
              </a:lnSpc>
              <a:spcBef>
                <a:spcPts val="0"/>
              </a:spcBef>
              <a:spcAft>
                <a:spcPts val="0"/>
              </a:spcAft>
            </a:pPr>
            <a:r>
              <a:rPr sz="958" b="0">
                <a:solidFill>
                  <a:srgbClr val="FFFFFC"/>
                </a:solidFill>
                <a:latin typeface="Outfit"/>
              </a:rPr>
              <a:t>Orquestra tarefas, validações e próximos passos sob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8875" y="5818599"/>
            <a:ext cx="1720762" cy="2192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61"/>
              </a:lnSpc>
              <a:spcBef>
                <a:spcPts val="0"/>
              </a:spcBef>
              <a:spcAft>
                <a:spcPts val="0"/>
              </a:spcAft>
            </a:pPr>
            <a:r>
              <a:rPr sz="958" b="0">
                <a:solidFill>
                  <a:srgbClr val="FFFFFC"/>
                </a:solidFill>
                <a:latin typeface="Outfit"/>
              </a:rPr>
              <a:t>supervisão humana.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3440" y="1502687"/>
            <a:ext cx="2284166" cy="2651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F476F"/>
                </a:solidFill>
                <a:latin typeface="Outfit SemiBold"/>
              </a:rPr>
              <a:t>ENCERRAMENTO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40" y="1987272"/>
            <a:ext cx="5565909" cy="13533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497"/>
              </a:lnSpc>
              <a:spcBef>
                <a:spcPts val="0"/>
              </a:spcBef>
              <a:spcAft>
                <a:spcPts val="0"/>
              </a:spcAft>
            </a:pPr>
            <a:r>
              <a:rPr sz="6912" b="0">
                <a:solidFill>
                  <a:srgbClr val="FFFFFC"/>
                </a:solidFill>
                <a:latin typeface="Outfit Medium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40" y="3068359"/>
            <a:ext cx="3319295" cy="3072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31"/>
              </a:lnSpc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FFFFFC"/>
                </a:solidFill>
                <a:latin typeface="Outfit Medium"/>
              </a:rPr>
              <a:t>Kleber Edurado Vicente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3339022"/>
            <a:ext cx="971502" cy="3072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31"/>
              </a:lnSpc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FFFFFC"/>
                </a:solidFill>
                <a:latin typeface="Outfit Medium"/>
              </a:rPr>
              <a:t>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" y="3676888"/>
            <a:ext cx="3695342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6" b="0">
                <a:solidFill>
                  <a:srgbClr val="FFFFFC"/>
                </a:solidFill>
                <a:latin typeface="Outfit SemiBold"/>
              </a:rPr>
              <a:t>HEAD DE INOVAÇÃO, PRODUTOS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40" y="3857939"/>
            <a:ext cx="3747015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6" b="0">
                <a:solidFill>
                  <a:srgbClr val="FFFFFC"/>
                </a:solidFill>
                <a:latin typeface="Outfit SemiBold"/>
              </a:rPr>
              <a:t>DESENVOLVIMENTO DE NEGÓCIOS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440" y="4509611"/>
            <a:ext cx="827484" cy="18653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787" b="1">
                <a:solidFill>
                  <a:srgbClr val="EF476F"/>
                </a:solidFill>
                <a:latin typeface="Outfit"/>
              </a:rPr>
              <a:t>E-MAIL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40" y="4705945"/>
            <a:ext cx="2036802" cy="246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  <a:spcBef>
                <a:spcPts val="0"/>
              </a:spcBef>
              <a:spcAft>
                <a:spcPts val="0"/>
              </a:spcAft>
            </a:pPr>
            <a:r>
              <a:rPr sz="1104" b="0">
                <a:solidFill>
                  <a:srgbClr val="FFFFFC"/>
                </a:solidFill>
                <a:latin typeface="Outfit Medium"/>
              </a:rPr>
              <a:t>nome@empresa.com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5512" y="4509611"/>
            <a:ext cx="1108186" cy="18653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787" b="1">
                <a:solidFill>
                  <a:srgbClr val="EF476F"/>
                </a:solidFill>
                <a:latin typeface="Outfit"/>
              </a:rPr>
              <a:t>TELEFONE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12" y="4705945"/>
            <a:ext cx="2109477" cy="246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  <a:spcBef>
                <a:spcPts val="0"/>
              </a:spcBef>
              <a:spcAft>
                <a:spcPts val="0"/>
              </a:spcAft>
            </a:pPr>
            <a:r>
              <a:rPr sz="1104" b="0">
                <a:solidFill>
                  <a:srgbClr val="FFFFFC"/>
                </a:solidFill>
                <a:latin typeface="Outfit Medium"/>
              </a:rPr>
              <a:t>+55 00 00000-0000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624" y="2085260"/>
            <a:ext cx="2029467" cy="2372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290241"/>
                </a:solidFill>
                <a:latin typeface="Outfit SemiBold"/>
              </a:rPr>
              <a:t>ENCERRAMENTO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24" y="2510790"/>
            <a:ext cx="4798980" cy="11766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685"/>
              </a:lnSpc>
              <a:spcBef>
                <a:spcPts val="0"/>
              </a:spcBef>
              <a:spcAft>
                <a:spcPts val="0"/>
              </a:spcAft>
            </a:pPr>
            <a:r>
              <a:rPr sz="5984" b="0">
                <a:solidFill>
                  <a:srgbClr val="0F1108"/>
                </a:solidFill>
                <a:latin typeface="Outfit Medium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24" y="3457455"/>
            <a:ext cx="4187737" cy="3015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F1108"/>
                </a:solidFill>
                <a:latin typeface="Outfit"/>
              </a:rPr>
              <a:t>Fico à disposição para continuarmos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24" y="3713564"/>
            <a:ext cx="1791438" cy="3015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F1108"/>
                </a:solidFill>
                <a:latin typeface="Outfit"/>
              </a:rPr>
              <a:t>esta conversa.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24" y="4415909"/>
            <a:ext cx="751141" cy="16824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691" b="1">
                <a:solidFill>
                  <a:srgbClr val="EF476F"/>
                </a:solidFill>
                <a:latin typeface="Outfit"/>
              </a:rPr>
              <a:t>E-MAIL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24" y="4588073"/>
            <a:ext cx="1812940" cy="22123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53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0F1108"/>
                </a:solidFill>
                <a:latin typeface="Outfit Medium"/>
              </a:rPr>
              <a:t>nome@empresa.com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1676" y="4415909"/>
            <a:ext cx="997505" cy="16824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691" b="1">
                <a:solidFill>
                  <a:srgbClr val="EF476F"/>
                </a:solidFill>
                <a:latin typeface="Outfit"/>
              </a:rPr>
              <a:t>TELEFONE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1676" y="4588073"/>
            <a:ext cx="1876615" cy="22123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53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0F1108"/>
                </a:solidFill>
                <a:latin typeface="Outfit Medium"/>
              </a:rPr>
              <a:t>+55 00 00000-0000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73935" y="5330070"/>
            <a:ext cx="2137314" cy="33363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1"/>
              </a:lnSpc>
              <a:spcBef>
                <a:spcPts val="0"/>
              </a:spcBef>
              <a:spcAft>
                <a:spcPts val="0"/>
              </a:spcAft>
            </a:pPr>
            <a:r>
              <a:rPr sz="1559" b="0">
                <a:solidFill>
                  <a:srgbClr val="FFFFFC"/>
                </a:solidFill>
                <a:latin typeface="Outfit Medium"/>
              </a:rPr>
              <a:t>Kleber Edurado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3935" y="5536028"/>
            <a:ext cx="2529863" cy="33363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1"/>
              </a:lnSpc>
              <a:spcBef>
                <a:spcPts val="0"/>
              </a:spcBef>
              <a:spcAft>
                <a:spcPts val="0"/>
              </a:spcAft>
            </a:pPr>
            <a:r>
              <a:rPr sz="1559" b="0">
                <a:solidFill>
                  <a:srgbClr val="FFFFFC"/>
                </a:solidFill>
                <a:latin typeface="Outfit Medium"/>
              </a:rPr>
              <a:t>Vicente dos Santos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3935" y="5811321"/>
            <a:ext cx="2612707" cy="1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44"/>
              </a:lnSpc>
              <a:spcBef>
                <a:spcPts val="0"/>
              </a:spcBef>
              <a:spcAft>
                <a:spcPts val="0"/>
              </a:spcAft>
            </a:pPr>
            <a:r>
              <a:rPr sz="699" b="1">
                <a:solidFill>
                  <a:srgbClr val="EF476F"/>
                </a:solidFill>
                <a:latin typeface="Outfit"/>
              </a:rPr>
              <a:t>HEAD DE INOVAÇÃO, PRODUTOS 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3935" y="5931267"/>
            <a:ext cx="2646211" cy="1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44"/>
              </a:lnSpc>
              <a:spcBef>
                <a:spcPts val="0"/>
              </a:spcBef>
              <a:spcAft>
                <a:spcPts val="0"/>
              </a:spcAft>
            </a:pPr>
            <a:r>
              <a:rPr sz="699" b="1">
                <a:solidFill>
                  <a:srgbClr val="EF476F"/>
                </a:solidFill>
                <a:latin typeface="Outfit"/>
              </a:rPr>
              <a:t>DESENVOLVIMENTO DE NEGÓCIOS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 — editável</dc:title>
  <dc:subject>Fundos fiéis ao HTML/CSS com caixas de texto editáveis</dc:subject>
  <dc:creator>NeuralMind.ai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