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Template NeuralMind.ai com fundo fiel ao HTML/CSS e textos editáveis.</a:t>
            </a:r>
          </a:p>
          <a:p>
            <a:r>
              <a:t>Para máxima fidelidade no PowerPoint, instale as famílias Outfit e Urbanist.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Template NeuralMind.ai com fundo fiel ao HTML/CSS e textos editáveis.</a:t>
            </a:r>
          </a:p>
          <a:p>
            <a:r>
              <a:t>Para máxima fidelidade no PowerPoint, instale as famílias Outfit e Urbanist.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Template NeuralMind.ai com fundo fiel ao HTML/CSS e textos editáveis.</a:t>
            </a:r>
          </a:p>
          <a:p>
            <a:r>
              <a:t>Para máxima fidelidade no PowerPoint, instale as famílias Outfit e Urbanist.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Template NeuralMind.ai com fundo fiel ao HTML/CSS e textos editáveis.</a:t>
            </a:r>
          </a:p>
          <a:p>
            <a:r>
              <a:t>Para máxima fidelidade no PowerPoint, instale as famílias Outfit e Urbanist.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Template NeuralMind.ai com fundo fiel ao HTML/CSS e textos editáveis.</a:t>
            </a:r>
          </a:p>
          <a:p>
            <a:r>
              <a:t>Para máxima fidelidade no PowerPoint, instale as famílias Outfit e Urbanist.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Template NeuralMind.ai com fundo fiel ao HTML/CSS e textos editáveis.</a:t>
            </a:r>
          </a:p>
          <a:p>
            <a:r>
              <a:t>Para máxima fidelidade no PowerPoint, instale as famílias Outfit e Urbanist.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Template NeuralMind.ai com fundo fiel ao HTML/CSS e textos editáveis.</a:t>
            </a:r>
          </a:p>
          <a:p>
            <a:r>
              <a:t>Para máxima fidelidade no PowerPoint, instale as famílias Outfit e Urbanist.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Template NeuralMind.ai com fundo fiel ao HTML/CSS e textos editáveis.</a:t>
            </a:r>
          </a:p>
          <a:p>
            <a:r>
              <a:t>Para máxima fidelidade no PowerPoint, instale as famílias Outfit e Urbanist.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Template NeuralMind.ai com fundo fiel ao HTML/CSS e textos editáveis.</a:t>
            </a:r>
          </a:p>
          <a:p>
            <a:r>
              <a:t>Para máxima fidelidade no PowerPoint, instale as famílias Outfit e Urbanist.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Template NeuralMind.ai com fundo fiel ao HTML/CSS e textos editáveis.</a:t>
            </a:r>
          </a:p>
          <a:p>
            <a:r>
              <a:t>Para máxima fidelidade no PowerPoint, instale as famílias Outfit e Urbanist.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Template NeuralMind.ai com fundo fiel ao HTML/CSS e textos editáveis.</a:t>
            </a:r>
          </a:p>
          <a:p>
            <a:r>
              <a:t>Para máxima fidelidade no PowerPoint, instale as famílias Outfit e Urbanist.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Template NeuralMind.ai com fundo fiel ao HTML/CSS e textos editáveis.</a:t>
            </a:r>
          </a:p>
          <a:p>
            <a:r>
              <a:t>Para máxima fidelidade no PowerPoint, instale as famílias Outfit e Urbanist.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Template NeuralMind.ai com fundo fiel ao HTML/CSS e textos editáveis.</a:t>
            </a:r>
          </a:p>
          <a:p>
            <a:r>
              <a:t>Para máxima fidelidade no PowerPoint, instale as famílias Outfit e Urbanist.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Template NeuralMind.ai com fundo fiel ao HTML/CSS e textos editáveis.</a:t>
            </a:r>
          </a:p>
          <a:p>
            <a:r>
              <a:t>Para máxima fidelidade no PowerPoint, instale as famílias Outfit e Urbanist.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Template NeuralMind.ai com fundo fiel ao HTML/CSS e textos editáveis.</a:t>
            </a:r>
          </a:p>
          <a:p>
            <a:r>
              <a:t>Para máxima fidelidade no PowerPoint, instale as famílias Outfit e Urbanist.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Template NeuralMind.ai com fundo fiel ao HTML/CSS e textos editáveis.</a:t>
            </a:r>
          </a:p>
          <a:p>
            <a:r>
              <a:t>Para máxima fidelidade no PowerPoint, instale as famílias Outfit e Urbanist.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1-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3865483"/>
            <a:ext cx="2514361" cy="223113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1468"/>
              </a:lnSpc>
              <a:spcBef>
                <a:spcPts val="0"/>
              </a:spcBef>
              <a:spcAft>
                <a:spcPts val="0"/>
              </a:spcAft>
            </a:pPr>
            <a:r>
              <a:rPr sz="979" b="0">
                <a:solidFill>
                  <a:srgbClr val="9381FF"/>
                </a:solidFill>
                <a:latin typeface="Outfit SemiBold"/>
              </a:rPr>
              <a:t>BRAND GUIDE DIGITAL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562838"/>
            <a:ext cx="4181736" cy="417423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2998"/>
              </a:lnSpc>
              <a:spcBef>
                <a:spcPts val="0"/>
              </a:spcBef>
              <a:spcAft>
                <a:spcPts val="0"/>
              </a:spcAft>
            </a:pPr>
            <a:r>
              <a:rPr sz="1999" b="0">
                <a:solidFill>
                  <a:srgbClr val="FFFFFC"/>
                </a:solidFill>
                <a:latin typeface="Outfit"/>
              </a:rPr>
              <a:t>Inteligência para decisão.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2-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53440" y="2421612"/>
            <a:ext cx="1623417" cy="233171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1548"/>
              </a:lnSpc>
              <a:spcBef>
                <a:spcPts val="0"/>
              </a:spcBef>
              <a:spcAft>
                <a:spcPts val="0"/>
              </a:spcAft>
            </a:pPr>
            <a:r>
              <a:rPr sz="1031" b="0">
                <a:solidFill>
                  <a:srgbClr val="9381FF"/>
                </a:solidFill>
                <a:latin typeface="Outfit SemiBold"/>
              </a:rPr>
              <a:t>CAPÍTULO 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3440" y="2886313"/>
            <a:ext cx="9596080" cy="1027419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5513"/>
              </a:lnSpc>
              <a:spcBef>
                <a:spcPts val="0"/>
              </a:spcBef>
              <a:spcAft>
                <a:spcPts val="0"/>
              </a:spcAft>
            </a:pPr>
            <a:r>
              <a:rPr sz="5201" b="0">
                <a:solidFill>
                  <a:srgbClr val="FFFFFC"/>
                </a:solidFill>
                <a:latin typeface="Outfit Medium"/>
              </a:rPr>
              <a:t>Arquitetura de Produtos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3440" y="3854529"/>
            <a:ext cx="7302960" cy="327538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2291"/>
              </a:lnSpc>
              <a:spcBef>
                <a:spcPts val="0"/>
              </a:spcBef>
              <a:spcAft>
                <a:spcPts val="0"/>
              </a:spcAft>
            </a:pPr>
            <a:r>
              <a:rPr sz="1527" b="0">
                <a:solidFill>
                  <a:srgbClr val="FFFFFC"/>
                </a:solidFill>
                <a:latin typeface="Outfit"/>
              </a:rPr>
              <a:t>Diferentes produtos, uma mesma capacidade: transformar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3440" y="4145491"/>
            <a:ext cx="5450562" cy="327538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2291"/>
              </a:lnSpc>
              <a:spcBef>
                <a:spcPts val="0"/>
              </a:spcBef>
              <a:spcAft>
                <a:spcPts val="0"/>
              </a:spcAft>
            </a:pPr>
            <a:r>
              <a:rPr sz="1527" b="0">
                <a:solidFill>
                  <a:srgbClr val="FFFFFC"/>
                </a:solidFill>
                <a:latin typeface="Outfit"/>
              </a:rPr>
              <a:t>complexidade em inteligência para decisão.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3-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55808" y="755808"/>
            <a:ext cx="2831901" cy="236833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1576"/>
              </a:lnSpc>
              <a:spcBef>
                <a:spcPts val="0"/>
              </a:spcBef>
              <a:spcAft>
                <a:spcPts val="0"/>
              </a:spcAft>
            </a:pPr>
            <a:r>
              <a:rPr sz="1051" b="0">
                <a:solidFill>
                  <a:srgbClr val="EF476F"/>
                </a:solidFill>
                <a:latin typeface="Outfit SemiBold"/>
              </a:rPr>
              <a:t>VERTICAIS DE ATUAÇÃO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55808" y="1383149"/>
            <a:ext cx="5114686" cy="749491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4041"/>
              </a:lnSpc>
              <a:spcBef>
                <a:spcPts val="0"/>
              </a:spcBef>
              <a:spcAft>
                <a:spcPts val="0"/>
              </a:spcAft>
            </a:pPr>
            <a:r>
              <a:rPr sz="3742" b="0">
                <a:solidFill>
                  <a:srgbClr val="FFFFFC"/>
                </a:solidFill>
                <a:latin typeface="Outfit Medium"/>
              </a:rPr>
              <a:t>Uma marca mãe.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55808" y="1896448"/>
            <a:ext cx="4066889" cy="749491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4041"/>
              </a:lnSpc>
              <a:spcBef>
                <a:spcPts val="0"/>
              </a:spcBef>
              <a:spcAft>
                <a:spcPts val="0"/>
              </a:spcAft>
            </a:pPr>
            <a:r>
              <a:rPr sz="3742" b="0">
                <a:solidFill>
                  <a:srgbClr val="FFFFFC"/>
                </a:solidFill>
                <a:latin typeface="Outfit Medium"/>
              </a:rPr>
              <a:t>Três verticais.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4463" y="1881068"/>
            <a:ext cx="6526863" cy="300915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2081"/>
              </a:lnSpc>
              <a:spcBef>
                <a:spcPts val="0"/>
              </a:spcBef>
              <a:spcAft>
                <a:spcPts val="0"/>
              </a:spcAft>
            </a:pPr>
            <a:r>
              <a:rPr sz="1387" b="0">
                <a:solidFill>
                  <a:srgbClr val="FFFFFC"/>
                </a:solidFill>
                <a:latin typeface="Outfit"/>
              </a:rPr>
              <a:t>NeuralStudio, SofIA e PrioScan: propostas próprias, com 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84463" y="2145407"/>
            <a:ext cx="4393596" cy="300915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2081"/>
              </a:lnSpc>
              <a:spcBef>
                <a:spcPts val="0"/>
              </a:spcBef>
              <a:spcAft>
                <a:spcPts val="0"/>
              </a:spcAft>
            </a:pPr>
            <a:r>
              <a:rPr sz="1387" b="0">
                <a:solidFill>
                  <a:srgbClr val="FFFFFC"/>
                </a:solidFill>
                <a:latin typeface="Outfit"/>
              </a:rPr>
              <a:t>pesquisa e a confiança da NeuralMind.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5808" y="4272795"/>
            <a:ext cx="423433" cy="204792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1324"/>
              </a:lnSpc>
              <a:spcBef>
                <a:spcPts val="0"/>
              </a:spcBef>
              <a:spcAft>
                <a:spcPts val="0"/>
              </a:spcAft>
            </a:pPr>
            <a:r>
              <a:rPr sz="883" b="0">
                <a:solidFill>
                  <a:srgbClr val="EF476F"/>
                </a:solidFill>
                <a:latin typeface="Outfit SemiBold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5808" y="4574500"/>
            <a:ext cx="2200989" cy="413059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2213"/>
              </a:lnSpc>
              <a:spcBef>
                <a:spcPts val="0"/>
              </a:spcBef>
              <a:spcAft>
                <a:spcPts val="0"/>
              </a:spcAft>
            </a:pPr>
            <a:r>
              <a:rPr sz="1976" b="0">
                <a:solidFill>
                  <a:srgbClr val="FFFFFC"/>
                </a:solidFill>
                <a:latin typeface="Outfit Medium"/>
              </a:rPr>
              <a:t>NeuralStudio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5808" y="4988956"/>
            <a:ext cx="4445103" cy="260863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1766"/>
              </a:lnSpc>
              <a:spcBef>
                <a:spcPts val="0"/>
              </a:spcBef>
              <a:spcAft>
                <a:spcPts val="0"/>
              </a:spcAft>
            </a:pPr>
            <a:r>
              <a:rPr sz="1177" b="0">
                <a:solidFill>
                  <a:srgbClr val="FFFFFC"/>
                </a:solidFill>
                <a:latin typeface="Outfit"/>
              </a:rPr>
              <a:t>Documentos, atendimento e conhecimento no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5808" y="5213244"/>
            <a:ext cx="1834443" cy="260863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1766"/>
              </a:lnSpc>
              <a:spcBef>
                <a:spcPts val="0"/>
              </a:spcBef>
              <a:spcAft>
                <a:spcPts val="0"/>
              </a:spcAft>
            </a:pPr>
            <a:r>
              <a:rPr sz="1177" b="0">
                <a:solidFill>
                  <a:srgbClr val="FFFFFC"/>
                </a:solidFill>
                <a:latin typeface="Outfit"/>
              </a:rPr>
              <a:t>fluxo de trabalho.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5808" y="5910024"/>
            <a:ext cx="665630" cy="196781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1093"/>
              </a:lnSpc>
              <a:spcBef>
                <a:spcPts val="0"/>
              </a:spcBef>
              <a:spcAft>
                <a:spcPts val="0"/>
              </a:spcAft>
            </a:pPr>
            <a:r>
              <a:rPr sz="840" b="0">
                <a:solidFill>
                  <a:srgbClr val="FFFFFC"/>
                </a:solidFill>
                <a:latin typeface="Outfit SemiBold"/>
              </a:rPr>
              <a:t>NDocs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01697" y="5910024"/>
            <a:ext cx="855987" cy="196781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1093"/>
              </a:lnSpc>
              <a:spcBef>
                <a:spcPts val="0"/>
              </a:spcBef>
              <a:spcAft>
                <a:spcPts val="0"/>
              </a:spcAft>
            </a:pPr>
            <a:r>
              <a:rPr sz="840" b="0">
                <a:solidFill>
                  <a:srgbClr val="FFFFFC"/>
                </a:solidFill>
                <a:latin typeface="Outfit SemiBold"/>
              </a:rPr>
              <a:t>Chatbots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83556" y="5910024"/>
            <a:ext cx="1492567" cy="196781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1093"/>
              </a:lnSpc>
              <a:spcBef>
                <a:spcPts val="0"/>
              </a:spcBef>
              <a:spcAft>
                <a:spcPts val="0"/>
              </a:spcAft>
            </a:pPr>
            <a:r>
              <a:rPr sz="840" b="0">
                <a:solidFill>
                  <a:srgbClr val="FFFFFC"/>
                </a:solidFill>
                <a:latin typeface="Outfit SemiBold"/>
              </a:rPr>
              <a:t>Busca em manuais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65664" y="4272795"/>
            <a:ext cx="452604" cy="204792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1324"/>
              </a:lnSpc>
              <a:spcBef>
                <a:spcPts val="0"/>
              </a:spcBef>
              <a:spcAft>
                <a:spcPts val="0"/>
              </a:spcAft>
            </a:pPr>
            <a:r>
              <a:rPr sz="883" b="0">
                <a:solidFill>
                  <a:srgbClr val="EF476F"/>
                </a:solidFill>
                <a:latin typeface="Outfit SemiBold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65664" y="4574500"/>
            <a:ext cx="1056012" cy="413059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2213"/>
              </a:lnSpc>
              <a:spcBef>
                <a:spcPts val="0"/>
              </a:spcBef>
              <a:spcAft>
                <a:spcPts val="0"/>
              </a:spcAft>
            </a:pPr>
            <a:r>
              <a:rPr sz="1976" b="0">
                <a:solidFill>
                  <a:srgbClr val="FFFFFC"/>
                </a:solidFill>
                <a:latin typeface="Outfit Medium"/>
              </a:rPr>
              <a:t>SofIA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65664" y="4988956"/>
            <a:ext cx="4075723" cy="260863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1766"/>
              </a:lnSpc>
              <a:spcBef>
                <a:spcPts val="0"/>
              </a:spcBef>
              <a:spcAft>
                <a:spcPts val="0"/>
              </a:spcAft>
            </a:pPr>
            <a:r>
              <a:rPr sz="1177" b="0">
                <a:solidFill>
                  <a:srgbClr val="FFFFFC"/>
                </a:solidFill>
                <a:latin typeface="Outfit"/>
              </a:rPr>
              <a:t>Jurídico e regulatório, do pré-contencioso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65664" y="5213244"/>
            <a:ext cx="1654254" cy="260863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1766"/>
              </a:lnSpc>
              <a:spcBef>
                <a:spcPts val="0"/>
              </a:spcBef>
              <a:spcAft>
                <a:spcPts val="0"/>
              </a:spcAft>
            </a:pPr>
            <a:r>
              <a:rPr sz="1177" b="0">
                <a:solidFill>
                  <a:srgbClr val="FFFFFC"/>
                </a:solidFill>
                <a:latin typeface="Outfit"/>
              </a:rPr>
              <a:t>ao contencioso.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65664" y="5910024"/>
            <a:ext cx="740473" cy="196781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1093"/>
              </a:lnSpc>
              <a:spcBef>
                <a:spcPts val="0"/>
              </a:spcBef>
              <a:spcAft>
                <a:spcPts val="0"/>
              </a:spcAft>
            </a:pPr>
            <a:r>
              <a:rPr sz="840" b="0">
                <a:solidFill>
                  <a:srgbClr val="FFFFFC"/>
                </a:solidFill>
                <a:latin typeface="Outfit SemiBold"/>
              </a:rPr>
              <a:t>QSAMS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65012" y="5910024"/>
            <a:ext cx="735639" cy="196781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1093"/>
              </a:lnSpc>
              <a:spcBef>
                <a:spcPts val="0"/>
              </a:spcBef>
              <a:spcAft>
                <a:spcPts val="0"/>
              </a:spcAft>
            </a:pPr>
            <a:r>
              <a:rPr sz="840" b="0">
                <a:solidFill>
                  <a:srgbClr val="FFFFFC"/>
                </a:solidFill>
                <a:latin typeface="Outfit SemiBold"/>
              </a:rPr>
              <a:t>AssrtIA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60908" y="5910024"/>
            <a:ext cx="1200530" cy="196781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1093"/>
              </a:lnSpc>
              <a:spcBef>
                <a:spcPts val="0"/>
              </a:spcBef>
              <a:spcAft>
                <a:spcPts val="0"/>
              </a:spcAft>
            </a:pPr>
            <a:r>
              <a:rPr sz="840" b="0">
                <a:solidFill>
                  <a:srgbClr val="FFFFFC"/>
                </a:solidFill>
                <a:latin typeface="Outfit SemiBold"/>
              </a:rPr>
              <a:t>Jurema · LLMs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975639" y="4272795"/>
            <a:ext cx="452104" cy="204792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1324"/>
              </a:lnSpc>
              <a:spcBef>
                <a:spcPts val="0"/>
              </a:spcBef>
              <a:spcAft>
                <a:spcPts val="0"/>
              </a:spcAft>
            </a:pPr>
            <a:r>
              <a:rPr sz="883" b="0">
                <a:solidFill>
                  <a:srgbClr val="EF476F"/>
                </a:solidFill>
                <a:latin typeface="Outfit SemiBold"/>
              </a:rP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975639" y="4574500"/>
            <a:ext cx="1570577" cy="413059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2213"/>
              </a:lnSpc>
              <a:spcBef>
                <a:spcPts val="0"/>
              </a:spcBef>
              <a:spcAft>
                <a:spcPts val="0"/>
              </a:spcAft>
            </a:pPr>
            <a:r>
              <a:rPr sz="1976" b="0">
                <a:solidFill>
                  <a:srgbClr val="FFFFFC"/>
                </a:solidFill>
                <a:latin typeface="Outfit Medium"/>
              </a:rPr>
              <a:t>PrioScan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975639" y="4988956"/>
            <a:ext cx="3733847" cy="260863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1766"/>
              </a:lnSpc>
              <a:spcBef>
                <a:spcPts val="0"/>
              </a:spcBef>
              <a:spcAft>
                <a:spcPts val="0"/>
              </a:spcAft>
            </a:pPr>
            <a:r>
              <a:rPr sz="1177" b="0">
                <a:solidFill>
                  <a:srgbClr val="FFFFFC"/>
                </a:solidFill>
                <a:latin typeface="Outfit"/>
              </a:rPr>
              <a:t>Saúde, prevenção e apoio à análise de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975639" y="5213244"/>
            <a:ext cx="1791104" cy="260863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1766"/>
              </a:lnSpc>
              <a:spcBef>
                <a:spcPts val="0"/>
              </a:spcBef>
              <a:spcAft>
                <a:spcPts val="0"/>
              </a:spcAft>
            </a:pPr>
            <a:r>
              <a:rPr sz="1177" b="0">
                <a:solidFill>
                  <a:srgbClr val="FFFFFC"/>
                </a:solidFill>
                <a:latin typeface="Outfit"/>
              </a:rPr>
              <a:t>exames médicos.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975639" y="5910024"/>
            <a:ext cx="1699760" cy="196781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1093"/>
              </a:lnSpc>
              <a:spcBef>
                <a:spcPts val="0"/>
              </a:spcBef>
              <a:spcAft>
                <a:spcPts val="0"/>
              </a:spcAft>
            </a:pPr>
            <a:r>
              <a:rPr sz="840" b="0">
                <a:solidFill>
                  <a:srgbClr val="FFFFFC"/>
                </a:solidFill>
                <a:latin typeface="Outfit SemiBold"/>
              </a:rPr>
              <a:t>Apoio ao especialista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4-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1390888"/>
            <a:ext cx="2395346" cy="237744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1583"/>
              </a:lnSpc>
              <a:spcBef>
                <a:spcPts val="0"/>
              </a:spcBef>
              <a:spcAft>
                <a:spcPts val="0"/>
              </a:spcAft>
            </a:pPr>
            <a:r>
              <a:rPr sz="1056" b="0">
                <a:solidFill>
                  <a:srgbClr val="290241"/>
                </a:solidFill>
                <a:latin typeface="Outfit SemiBold"/>
              </a:rPr>
              <a:t>PRODUTO EXEMPLO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758195"/>
            <a:ext cx="5029176" cy="969995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4703"/>
              </a:lnSpc>
              <a:spcBef>
                <a:spcPts val="0"/>
              </a:spcBef>
              <a:spcAft>
                <a:spcPts val="0"/>
              </a:spcAft>
            </a:pPr>
            <a:r>
              <a:rPr sz="4899" b="0">
                <a:solidFill>
                  <a:srgbClr val="0F1108"/>
                </a:solidFill>
                <a:latin typeface="Outfit Medium"/>
              </a:rPr>
              <a:t>NeuralStudio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521624"/>
            <a:ext cx="5996963" cy="374538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2093"/>
              </a:lnSpc>
              <a:spcBef>
                <a:spcPts val="0"/>
              </a:spcBef>
              <a:spcAft>
                <a:spcPts val="0"/>
              </a:spcAft>
            </a:pPr>
            <a:r>
              <a:rPr sz="1774" b="0">
                <a:solidFill>
                  <a:srgbClr val="290241"/>
                </a:solidFill>
                <a:latin typeface="Outfit Medium"/>
              </a:rPr>
              <a:t>Conhecimento organizacional pronto para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787488"/>
            <a:ext cx="2692050" cy="374538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2093"/>
              </a:lnSpc>
              <a:spcBef>
                <a:spcPts val="0"/>
              </a:spcBef>
              <a:spcAft>
                <a:spcPts val="0"/>
              </a:spcAft>
            </a:pPr>
            <a:r>
              <a:rPr sz="1774" b="0">
                <a:solidFill>
                  <a:srgbClr val="290241"/>
                </a:solidFill>
                <a:latin typeface="Outfit Medium"/>
              </a:rPr>
              <a:t>entrar na decisão.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219330"/>
            <a:ext cx="5334047" cy="27154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1874"/>
              </a:lnSpc>
              <a:spcBef>
                <a:spcPts val="0"/>
              </a:spcBef>
              <a:spcAft>
                <a:spcPts val="0"/>
              </a:spcAft>
            </a:pPr>
            <a:r>
              <a:rPr sz="1233" b="0">
                <a:solidFill>
                  <a:srgbClr val="0F1108"/>
                </a:solidFill>
                <a:latin typeface="Outfit"/>
              </a:rPr>
              <a:t>A busca conversacional encontra respostas em bases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457427"/>
            <a:ext cx="5036010" cy="27154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1874"/>
              </a:lnSpc>
              <a:spcBef>
                <a:spcPts val="0"/>
              </a:spcBef>
              <a:spcAft>
                <a:spcPts val="0"/>
              </a:spcAft>
            </a:pPr>
            <a:r>
              <a:rPr sz="1233" b="0">
                <a:solidFill>
                  <a:srgbClr val="0F1108"/>
                </a:solidFill>
                <a:latin typeface="Outfit"/>
              </a:rPr>
              <a:t>internas e mantém o trecho original à vista. Quem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695524"/>
            <a:ext cx="4733139" cy="27154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1874"/>
              </a:lnSpc>
              <a:spcBef>
                <a:spcPts val="0"/>
              </a:spcBef>
              <a:spcAft>
                <a:spcPts val="0"/>
              </a:spcAft>
            </a:pPr>
            <a:r>
              <a:rPr sz="1233" b="0">
                <a:solidFill>
                  <a:srgbClr val="0F1108"/>
                </a:solidFill>
                <a:latin typeface="Outfit"/>
              </a:rPr>
              <a:t>decide pode verificar, aprofundar e seguir com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933621"/>
            <a:ext cx="1726763" cy="27154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1874"/>
              </a:lnSpc>
              <a:spcBef>
                <a:spcPts val="0"/>
              </a:spcBef>
              <a:spcAft>
                <a:spcPts val="0"/>
              </a:spcAft>
            </a:pPr>
            <a:r>
              <a:rPr sz="1233" b="0">
                <a:solidFill>
                  <a:srgbClr val="0F1108"/>
                </a:solidFill>
                <a:latin typeface="Outfit"/>
              </a:rPr>
              <a:t>mais confiança.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03483" y="4501157"/>
            <a:ext cx="2494526" cy="237744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1425"/>
              </a:lnSpc>
              <a:spcBef>
                <a:spcPts val="0"/>
              </a:spcBef>
              <a:spcAft>
                <a:spcPts val="0"/>
              </a:spcAft>
            </a:pPr>
            <a:r>
              <a:rPr sz="1056" b="0">
                <a:solidFill>
                  <a:srgbClr val="0F1108"/>
                </a:solidFill>
                <a:latin typeface="Outfit"/>
              </a:rPr>
              <a:t>Busca semântica multifonte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531637"/>
            <a:ext cx="386429" cy="189463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sz="802" b="0">
                <a:solidFill>
                  <a:srgbClr val="EF476F"/>
                </a:solidFill>
                <a:latin typeface="Outfit SemiBold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03483" y="4893587"/>
            <a:ext cx="2361676" cy="237744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1425"/>
              </a:lnSpc>
              <a:spcBef>
                <a:spcPts val="0"/>
              </a:spcBef>
              <a:spcAft>
                <a:spcPts val="0"/>
              </a:spcAft>
            </a:pPr>
            <a:r>
              <a:rPr sz="1056" b="0">
                <a:solidFill>
                  <a:srgbClr val="0F1108"/>
                </a:solidFill>
                <a:latin typeface="Outfit"/>
              </a:rPr>
              <a:t>Citação do trecho original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924067"/>
            <a:ext cx="412932" cy="189463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sz="802" b="0">
                <a:solidFill>
                  <a:srgbClr val="EF476F"/>
                </a:solidFill>
                <a:latin typeface="Outfit SemiBold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03483" y="5286017"/>
            <a:ext cx="2443686" cy="237744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1425"/>
              </a:lnSpc>
              <a:spcBef>
                <a:spcPts val="0"/>
              </a:spcBef>
              <a:spcAft>
                <a:spcPts val="0"/>
              </a:spcAft>
            </a:pPr>
            <a:r>
              <a:rPr sz="1056" b="0">
                <a:solidFill>
                  <a:srgbClr val="0F1108"/>
                </a:solidFill>
                <a:latin typeface="Outfit"/>
              </a:rPr>
              <a:t>Validação humana no fluxo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5316497"/>
            <a:ext cx="412432" cy="189463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sz="802" b="0">
                <a:solidFill>
                  <a:srgbClr val="EF476F"/>
                </a:solidFill>
                <a:latin typeface="Outfit SemiBold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24919" y="2182296"/>
            <a:ext cx="1010173" cy="168542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1039"/>
              </a:lnSpc>
              <a:spcBef>
                <a:spcPts val="0"/>
              </a:spcBef>
              <a:spcAft>
                <a:spcPts val="0"/>
              </a:spcAft>
            </a:pPr>
            <a:r>
              <a:rPr sz="692" b="1">
                <a:solidFill>
                  <a:srgbClr val="290241"/>
                </a:solidFill>
                <a:latin typeface="Outfit"/>
              </a:rPr>
              <a:t>CONSULTA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24919" y="2378511"/>
            <a:ext cx="4723137" cy="286024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1964"/>
              </a:lnSpc>
              <a:spcBef>
                <a:spcPts val="0"/>
              </a:spcBef>
              <a:spcAft>
                <a:spcPts val="0"/>
              </a:spcAft>
            </a:pPr>
            <a:r>
              <a:rPr sz="1309" b="0">
                <a:solidFill>
                  <a:srgbClr val="0F1108"/>
                </a:solidFill>
                <a:latin typeface="Outfit Medium"/>
              </a:rPr>
              <a:t>Quais contratos exigem revisão regulatória?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40993" y="3061454"/>
            <a:ext cx="1929788" cy="168542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1039"/>
              </a:lnSpc>
              <a:spcBef>
                <a:spcPts val="0"/>
              </a:spcBef>
              <a:spcAft>
                <a:spcPts val="0"/>
              </a:spcAft>
            </a:pPr>
            <a:r>
              <a:rPr sz="692" b="1">
                <a:solidFill>
                  <a:srgbClr val="290241"/>
                </a:solidFill>
                <a:latin typeface="Outfit"/>
              </a:rPr>
              <a:t>RESPOSTA COM FONTE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40993" y="3273742"/>
            <a:ext cx="6943248" cy="226478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1445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F1108"/>
                </a:solidFill>
                <a:latin typeface="Outfit"/>
              </a:rPr>
              <a:t>Foram identificados três documentos com cláusulas de atualização regulatória e prazo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40993" y="3457315"/>
            <a:ext cx="1915120" cy="226478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1445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F1108"/>
                </a:solidFill>
                <a:latin typeface="Outfit"/>
              </a:rPr>
              <a:t>de revisão em aberto.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98130" y="4698563"/>
            <a:ext cx="930997" cy="168542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1039"/>
              </a:lnSpc>
              <a:spcBef>
                <a:spcPts val="0"/>
              </a:spcBef>
              <a:spcAft>
                <a:spcPts val="0"/>
              </a:spcAft>
            </a:pPr>
            <a:r>
              <a:rPr sz="692" b="1">
                <a:solidFill>
                  <a:srgbClr val="290241"/>
                </a:solidFill>
                <a:latin typeface="Outfit"/>
              </a:rPr>
              <a:t>FONTE 01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98130" y="4884062"/>
            <a:ext cx="1900618" cy="200729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1137"/>
              </a:lnSpc>
              <a:spcBef>
                <a:spcPts val="0"/>
              </a:spcBef>
              <a:spcAft>
                <a:spcPts val="0"/>
              </a:spcAft>
            </a:pPr>
            <a:r>
              <a:rPr sz="861" b="0">
                <a:solidFill>
                  <a:srgbClr val="290241"/>
                </a:solidFill>
                <a:latin typeface="Outfit SemiBold"/>
              </a:rPr>
              <a:t>Contrato matriz · pág. 14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85252" y="4698563"/>
            <a:ext cx="954000" cy="168542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1039"/>
              </a:lnSpc>
              <a:spcBef>
                <a:spcPts val="0"/>
              </a:spcBef>
              <a:spcAft>
                <a:spcPts val="0"/>
              </a:spcAft>
            </a:pPr>
            <a:r>
              <a:rPr sz="692" b="1">
                <a:solidFill>
                  <a:srgbClr val="290241"/>
                </a:solidFill>
                <a:latin typeface="Outfit"/>
              </a:rPr>
              <a:t>FONTE 02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85252" y="4884062"/>
            <a:ext cx="1805939" cy="200729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1137"/>
              </a:lnSpc>
              <a:spcBef>
                <a:spcPts val="0"/>
              </a:spcBef>
              <a:spcAft>
                <a:spcPts val="0"/>
              </a:spcAft>
            </a:pPr>
            <a:r>
              <a:rPr sz="861" b="0">
                <a:solidFill>
                  <a:srgbClr val="290241"/>
                </a:solidFill>
                <a:latin typeface="Outfit SemiBold"/>
              </a:rPr>
              <a:t>Anexo jurídico · pág. 08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5-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53440" y="2414825"/>
            <a:ext cx="8419433" cy="697138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3987"/>
              </a:lnSpc>
              <a:spcBef>
                <a:spcPts val="0"/>
              </a:spcBef>
              <a:spcAft>
                <a:spcPts val="0"/>
              </a:spcAft>
            </a:pPr>
            <a:r>
              <a:rPr sz="3467" b="0">
                <a:solidFill>
                  <a:srgbClr val="0F1108"/>
                </a:solidFill>
                <a:latin typeface="Outfit Medium"/>
              </a:rPr>
              <a:t>A tecnologia organiza e sugere.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3440" y="2921256"/>
            <a:ext cx="12350257" cy="697138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3987"/>
              </a:lnSpc>
              <a:spcBef>
                <a:spcPts val="0"/>
              </a:spcBef>
              <a:spcAft>
                <a:spcPts val="0"/>
              </a:spcAft>
            </a:pPr>
            <a:r>
              <a:rPr sz="3467" b="0">
                <a:solidFill>
                  <a:srgbClr val="0F1108"/>
                </a:solidFill>
                <a:latin typeface="Outfit Medium"/>
              </a:rPr>
              <a:t>O especialista compreende, decide e assume 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3440" y="3427688"/>
            <a:ext cx="2556200" cy="697138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3987"/>
              </a:lnSpc>
              <a:spcBef>
                <a:spcPts val="0"/>
              </a:spcBef>
              <a:spcAft>
                <a:spcPts val="0"/>
              </a:spcAft>
            </a:pPr>
            <a:r>
              <a:rPr sz="3467" b="0">
                <a:solidFill>
                  <a:srgbClr val="0F1108"/>
                </a:solidFill>
                <a:latin typeface="Outfit Medium"/>
              </a:rPr>
              <a:t>controle.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3440" y="4238744"/>
            <a:ext cx="3594496" cy="241035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1609"/>
              </a:lnSpc>
              <a:spcBef>
                <a:spcPts val="0"/>
              </a:spcBef>
              <a:spcAft>
                <a:spcPts val="0"/>
              </a:spcAft>
            </a:pPr>
            <a:r>
              <a:rPr sz="1073" b="0">
                <a:solidFill>
                  <a:srgbClr val="290241"/>
                </a:solidFill>
                <a:latin typeface="Outfit SemiBold"/>
              </a:rPr>
              <a:t>MANIFESTO NEURALMIND.AI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6-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53440" y="2344816"/>
            <a:ext cx="2192655" cy="233171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1548"/>
              </a:lnSpc>
              <a:spcBef>
                <a:spcPts val="0"/>
              </a:spcBef>
              <a:spcAft>
                <a:spcPts val="0"/>
              </a:spcAft>
            </a:pPr>
            <a:r>
              <a:rPr sz="1031" b="0">
                <a:solidFill>
                  <a:srgbClr val="290241"/>
                </a:solidFill>
                <a:latin typeface="Outfit SemiBold"/>
              </a:rPr>
              <a:t>POSICIONAMENTO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3440" y="2730103"/>
            <a:ext cx="3696342" cy="88587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4681"/>
              </a:lnSpc>
              <a:spcBef>
                <a:spcPts val="0"/>
              </a:spcBef>
              <a:spcAft>
                <a:spcPts val="0"/>
              </a:spcAft>
            </a:pPr>
            <a:r>
              <a:rPr sz="4458" b="0">
                <a:solidFill>
                  <a:srgbClr val="0F1108"/>
                </a:solidFill>
                <a:latin typeface="Outfit Medium"/>
              </a:rPr>
              <a:t>Confiança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3440" y="3324609"/>
            <a:ext cx="4496109" cy="88587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4681"/>
              </a:lnSpc>
              <a:spcBef>
                <a:spcPts val="0"/>
              </a:spcBef>
              <a:spcAft>
                <a:spcPts val="0"/>
              </a:spcAft>
            </a:pPr>
            <a:r>
              <a:rPr sz="4458" b="0">
                <a:solidFill>
                  <a:srgbClr val="0F1108"/>
                </a:solidFill>
                <a:latin typeface="Outfit Medium"/>
              </a:rPr>
              <a:t>que pode ser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3440" y="3919115"/>
            <a:ext cx="3828859" cy="88587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4681"/>
              </a:lnSpc>
              <a:spcBef>
                <a:spcPts val="0"/>
              </a:spcBef>
              <a:spcAft>
                <a:spcPts val="0"/>
              </a:spcAft>
            </a:pPr>
            <a:r>
              <a:rPr sz="4458" b="0">
                <a:solidFill>
                  <a:srgbClr val="0F1108"/>
                </a:solidFill>
                <a:latin typeface="Outfit Medium"/>
              </a:rPr>
              <a:t>verificada.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569267" y="2378392"/>
            <a:ext cx="475273" cy="264627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1675"/>
              </a:lnSpc>
              <a:spcBef>
                <a:spcPts val="0"/>
              </a:spcBef>
              <a:spcAft>
                <a:spcPts val="0"/>
              </a:spcAft>
            </a:pPr>
            <a:r>
              <a:rPr sz="1197" b="0">
                <a:solidFill>
                  <a:srgbClr val="EF476F"/>
                </a:solidFill>
                <a:latin typeface="Outfit SemiBold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3168" y="2325052"/>
            <a:ext cx="5550908" cy="343265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2253"/>
              </a:lnSpc>
              <a:spcBef>
                <a:spcPts val="0"/>
              </a:spcBef>
              <a:spcAft>
                <a:spcPts val="0"/>
              </a:spcAft>
            </a:pPr>
            <a:r>
              <a:rPr sz="1609" b="0">
                <a:solidFill>
                  <a:srgbClr val="0F1108"/>
                </a:solidFill>
                <a:latin typeface="Outfit"/>
              </a:rPr>
              <a:t>Cada resposta carrega o trecho exato que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3168" y="2611296"/>
            <a:ext cx="2087641" cy="343265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2253"/>
              </a:lnSpc>
              <a:spcBef>
                <a:spcPts val="0"/>
              </a:spcBef>
              <a:spcAft>
                <a:spcPts val="0"/>
              </a:spcAft>
            </a:pPr>
            <a:r>
              <a:rPr sz="1609" b="0">
                <a:solidFill>
                  <a:srgbClr val="0F1108"/>
                </a:solidFill>
                <a:latin typeface="Outfit"/>
              </a:rPr>
              <a:t>a fundamenta.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569267" y="3482340"/>
            <a:ext cx="514945" cy="264627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1675"/>
              </a:lnSpc>
              <a:spcBef>
                <a:spcPts val="0"/>
              </a:spcBef>
              <a:spcAft>
                <a:spcPts val="0"/>
              </a:spcAft>
            </a:pPr>
            <a:r>
              <a:rPr sz="1197" b="0">
                <a:solidFill>
                  <a:srgbClr val="EF476F"/>
                </a:solidFill>
                <a:latin typeface="Outfit SemiBold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3168" y="3429000"/>
            <a:ext cx="7245453" cy="343265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2253"/>
              </a:lnSpc>
              <a:spcBef>
                <a:spcPts val="0"/>
              </a:spcBef>
              <a:spcAft>
                <a:spcPts val="0"/>
              </a:spcAft>
            </a:pPr>
            <a:r>
              <a:rPr sz="1609" b="0">
                <a:solidFill>
                  <a:srgbClr val="0F1108"/>
                </a:solidFill>
                <a:latin typeface="Outfit"/>
              </a:rPr>
              <a:t>Modelos especializados em domínio — não generalistas.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569267" y="4300180"/>
            <a:ext cx="514278" cy="264627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1675"/>
              </a:lnSpc>
              <a:spcBef>
                <a:spcPts val="0"/>
              </a:spcBef>
              <a:spcAft>
                <a:spcPts val="0"/>
              </a:spcAft>
            </a:pPr>
            <a:r>
              <a:rPr sz="1197" b="0">
                <a:solidFill>
                  <a:srgbClr val="EF476F"/>
                </a:solidFill>
                <a:latin typeface="Outfit SemiBold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03168" y="4246840"/>
            <a:ext cx="6973585" cy="343265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2253"/>
              </a:lnSpc>
              <a:spcBef>
                <a:spcPts val="0"/>
              </a:spcBef>
              <a:spcAft>
                <a:spcPts val="0"/>
              </a:spcAft>
            </a:pPr>
            <a:r>
              <a:rPr sz="1609" b="0">
                <a:solidFill>
                  <a:srgbClr val="0F1108"/>
                </a:solidFill>
                <a:latin typeface="Outfit"/>
              </a:rPr>
              <a:t>Operação auditável e em conformidade com a LGPD.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2-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53440" y="1695450"/>
            <a:ext cx="4361759" cy="256763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1733"/>
              </a:lnSpc>
              <a:spcBef>
                <a:spcPts val="0"/>
              </a:spcBef>
              <a:spcAft>
                <a:spcPts val="0"/>
              </a:spcAft>
            </a:pPr>
            <a:r>
              <a:rPr sz="1155" b="0">
                <a:solidFill>
                  <a:srgbClr val="9381FF"/>
                </a:solidFill>
                <a:latin typeface="Outfit SemiBold"/>
              </a:rPr>
              <a:t>RESULTADO · NEURALSEARCHX 2.0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3440" y="1893808"/>
            <a:ext cx="1640752" cy="3024835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15372"/>
              </a:lnSpc>
              <a:spcBef>
                <a:spcPts val="0"/>
              </a:spcBef>
              <a:spcAft>
                <a:spcPts val="0"/>
              </a:spcAft>
            </a:pPr>
            <a:r>
              <a:rPr sz="15686" b="0">
                <a:solidFill>
                  <a:srgbClr val="FFFFFC"/>
                </a:solidFill>
                <a:latin typeface="Urbanist Medium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83224" y="2907268"/>
            <a:ext cx="817983" cy="1609343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8090"/>
              </a:lnSpc>
              <a:spcBef>
                <a:spcPts val="0"/>
              </a:spcBef>
              <a:spcAft>
                <a:spcPts val="0"/>
              </a:spcAft>
            </a:pPr>
            <a:r>
              <a:rPr sz="8255" b="0">
                <a:solidFill>
                  <a:srgbClr val="EF476F"/>
                </a:solidFill>
                <a:latin typeface="Urbanist Medium"/>
              </a:rPr>
              <a:t>×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3440" y="4266247"/>
            <a:ext cx="6522362" cy="335401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2352"/>
              </a:lnSpc>
              <a:spcBef>
                <a:spcPts val="0"/>
              </a:spcBef>
              <a:spcAft>
                <a:spcPts val="0"/>
              </a:spcAft>
            </a:pPr>
            <a:r>
              <a:rPr sz="1568" b="0">
                <a:solidFill>
                  <a:srgbClr val="FFFFFC"/>
                </a:solidFill>
                <a:latin typeface="Outfit"/>
              </a:rPr>
              <a:t>Redução de latência da busca semântica multifonte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3440" y="4565073"/>
            <a:ext cx="5423558" cy="335401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2352"/>
              </a:lnSpc>
              <a:spcBef>
                <a:spcPts val="0"/>
              </a:spcBef>
              <a:spcAft>
                <a:spcPts val="0"/>
              </a:spcAft>
            </a:pPr>
            <a:r>
              <a:rPr sz="1568" b="0">
                <a:solidFill>
                  <a:srgbClr val="FFFFFC"/>
                </a:solidFill>
                <a:latin typeface="Outfit"/>
              </a:rPr>
              <a:t>na nova arquitetura, sem perda de citação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3440" y="4863899"/>
            <a:ext cx="2541531" cy="335401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2352"/>
              </a:lnSpc>
              <a:spcBef>
                <a:spcPts val="0"/>
              </a:spcBef>
              <a:spcAft>
                <a:spcPts val="0"/>
              </a:spcAft>
            </a:pPr>
            <a:r>
              <a:rPr sz="1568" b="0">
                <a:solidFill>
                  <a:srgbClr val="FFFFFC"/>
                </a:solidFill>
                <a:latin typeface="Outfit"/>
              </a:rPr>
              <a:t>ou rastreabilidade.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8-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53440" y="1764863"/>
            <a:ext cx="2506527" cy="233171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1548"/>
              </a:lnSpc>
              <a:spcBef>
                <a:spcPts val="0"/>
              </a:spcBef>
              <a:spcAft>
                <a:spcPts val="0"/>
              </a:spcAft>
            </a:pPr>
            <a:r>
              <a:rPr sz="1031" b="0">
                <a:solidFill>
                  <a:srgbClr val="290241"/>
                </a:solidFill>
                <a:latin typeface="Outfit SemiBold"/>
              </a:rPr>
              <a:t>FLUXO DE TRABALHO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3440" y="2108120"/>
            <a:ext cx="8364259" cy="665683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3467"/>
              </a:lnSpc>
              <a:spcBef>
                <a:spcPts val="0"/>
              </a:spcBef>
              <a:spcAft>
                <a:spcPts val="0"/>
              </a:spcAft>
            </a:pPr>
            <a:r>
              <a:rPr sz="3302" b="0">
                <a:solidFill>
                  <a:srgbClr val="0F1108"/>
                </a:solidFill>
                <a:latin typeface="Outfit Medium"/>
              </a:rPr>
              <a:t>Da pergunta à decisão auditável.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3440" y="3943230"/>
            <a:ext cx="452770" cy="233171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1548"/>
              </a:lnSpc>
              <a:spcBef>
                <a:spcPts val="0"/>
              </a:spcBef>
              <a:spcAft>
                <a:spcPts val="0"/>
              </a:spcAft>
            </a:pPr>
            <a:r>
              <a:rPr sz="1031" b="0">
                <a:solidFill>
                  <a:srgbClr val="EF476F"/>
                </a:solidFill>
                <a:latin typeface="Outfit SemiBold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3440" y="4244578"/>
            <a:ext cx="2592204" cy="382584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2143"/>
              </a:lnSpc>
              <a:spcBef>
                <a:spcPts val="0"/>
              </a:spcBef>
              <a:spcAft>
                <a:spcPts val="0"/>
              </a:spcAft>
            </a:pPr>
            <a:r>
              <a:rPr sz="1816" b="0">
                <a:solidFill>
                  <a:srgbClr val="0F1108"/>
                </a:solidFill>
                <a:latin typeface="Outfit Medium"/>
              </a:rPr>
              <a:t>Pergunta natural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3440" y="4621410"/>
            <a:ext cx="3479149" cy="272491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1857"/>
              </a:lnSpc>
              <a:spcBef>
                <a:spcPts val="0"/>
              </a:spcBef>
              <a:spcAft>
                <a:spcPts val="0"/>
              </a:spcAft>
            </a:pPr>
            <a:r>
              <a:rPr sz="1238" b="0">
                <a:solidFill>
                  <a:srgbClr val="0F1108"/>
                </a:solidFill>
                <a:latin typeface="Outfit"/>
              </a:rPr>
              <a:t>O usuário descreve a necessidade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3440" y="4857326"/>
            <a:ext cx="2408348" cy="272491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1857"/>
              </a:lnSpc>
              <a:spcBef>
                <a:spcPts val="0"/>
              </a:spcBef>
              <a:spcAft>
                <a:spcPts val="0"/>
              </a:spcAft>
            </a:pPr>
            <a:r>
              <a:rPr sz="1238" b="0">
                <a:solidFill>
                  <a:srgbClr val="0F1108"/>
                </a:solidFill>
                <a:latin typeface="Outfit"/>
              </a:rPr>
              <a:t>em linguagem comum.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48062" y="3943230"/>
            <a:ext cx="486941" cy="233171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1548"/>
              </a:lnSpc>
              <a:spcBef>
                <a:spcPts val="0"/>
              </a:spcBef>
              <a:spcAft>
                <a:spcPts val="0"/>
              </a:spcAft>
            </a:pPr>
            <a:r>
              <a:rPr sz="1031" b="0">
                <a:solidFill>
                  <a:srgbClr val="EF476F"/>
                </a:solidFill>
                <a:latin typeface="Outfit SemiBold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48062" y="4244578"/>
            <a:ext cx="2570868" cy="382584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2143"/>
              </a:lnSpc>
              <a:spcBef>
                <a:spcPts val="0"/>
              </a:spcBef>
              <a:spcAft>
                <a:spcPts val="0"/>
              </a:spcAft>
            </a:pPr>
            <a:r>
              <a:rPr sz="1816" b="0">
                <a:solidFill>
                  <a:srgbClr val="0F1108"/>
                </a:solidFill>
                <a:latin typeface="Outfit Medium"/>
              </a:rPr>
              <a:t>Busca semântica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48062" y="4621410"/>
            <a:ext cx="3432476" cy="272491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1857"/>
              </a:lnSpc>
              <a:spcBef>
                <a:spcPts val="0"/>
              </a:spcBef>
              <a:spcAft>
                <a:spcPts val="0"/>
              </a:spcAft>
            </a:pPr>
            <a:r>
              <a:rPr sz="1238" b="0">
                <a:solidFill>
                  <a:srgbClr val="0F1108"/>
                </a:solidFill>
                <a:latin typeface="Outfit"/>
              </a:rPr>
              <a:t>Recuperação em múltiplas fontes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48062" y="4857326"/>
            <a:ext cx="3028759" cy="272491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1857"/>
              </a:lnSpc>
              <a:spcBef>
                <a:spcPts val="0"/>
              </a:spcBef>
              <a:spcAft>
                <a:spcPts val="0"/>
              </a:spcAft>
            </a:pPr>
            <a:r>
              <a:rPr sz="1238" b="0">
                <a:solidFill>
                  <a:srgbClr val="0F1108"/>
                </a:solidFill>
                <a:latin typeface="Outfit"/>
              </a:rPr>
              <a:t>com citação do trecho exato.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42685" y="3943230"/>
            <a:ext cx="486441" cy="233171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1548"/>
              </a:lnSpc>
              <a:spcBef>
                <a:spcPts val="0"/>
              </a:spcBef>
              <a:spcAft>
                <a:spcPts val="0"/>
              </a:spcAft>
            </a:pPr>
            <a:r>
              <a:rPr sz="1031" b="0">
                <a:solidFill>
                  <a:srgbClr val="EF476F"/>
                </a:solidFill>
                <a:latin typeface="Outfit SemiBold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42685" y="4244578"/>
            <a:ext cx="2762392" cy="382584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2143"/>
              </a:lnSpc>
              <a:spcBef>
                <a:spcPts val="0"/>
              </a:spcBef>
              <a:spcAft>
                <a:spcPts val="0"/>
              </a:spcAft>
            </a:pPr>
            <a:r>
              <a:rPr sz="1816" b="0">
                <a:solidFill>
                  <a:srgbClr val="0F1108"/>
                </a:solidFill>
                <a:latin typeface="Outfit Medium"/>
              </a:rPr>
              <a:t>Síntese contextual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42685" y="4621410"/>
            <a:ext cx="3544157" cy="272491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1857"/>
              </a:lnSpc>
              <a:spcBef>
                <a:spcPts val="0"/>
              </a:spcBef>
              <a:spcAft>
                <a:spcPts val="0"/>
              </a:spcAft>
            </a:pPr>
            <a:r>
              <a:rPr sz="1238" b="0">
                <a:solidFill>
                  <a:srgbClr val="0F1108"/>
                </a:solidFill>
                <a:latin typeface="Outfit"/>
              </a:rPr>
              <a:t>Resposta consolidada, vinculada 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42685" y="4857326"/>
            <a:ext cx="1813107" cy="272491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1857"/>
              </a:lnSpc>
              <a:spcBef>
                <a:spcPts val="0"/>
              </a:spcBef>
              <a:spcAft>
                <a:spcPts val="0"/>
              </a:spcAft>
            </a:pPr>
            <a:r>
              <a:rPr sz="1238" b="0">
                <a:solidFill>
                  <a:srgbClr val="0F1108"/>
                </a:solidFill>
                <a:latin typeface="Outfit"/>
              </a:rPr>
              <a:t>cada referência.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37307" y="3943230"/>
            <a:ext cx="496276" cy="233171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1548"/>
              </a:lnSpc>
              <a:spcBef>
                <a:spcPts val="0"/>
              </a:spcBef>
              <a:spcAft>
                <a:spcPts val="0"/>
              </a:spcAft>
            </a:pPr>
            <a:r>
              <a:rPr sz="1031" b="0">
                <a:solidFill>
                  <a:srgbClr val="EF476F"/>
                </a:solidFill>
                <a:latin typeface="Outfit SemiBold"/>
              </a:rPr>
              <a:t>04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37307" y="4244578"/>
            <a:ext cx="2833401" cy="382584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2143"/>
              </a:lnSpc>
              <a:spcBef>
                <a:spcPts val="0"/>
              </a:spcBef>
              <a:spcAft>
                <a:spcPts val="0"/>
              </a:spcAft>
            </a:pPr>
            <a:r>
              <a:rPr sz="1816" b="0">
                <a:solidFill>
                  <a:srgbClr val="0F1108"/>
                </a:solidFill>
                <a:latin typeface="Outfit Medium"/>
              </a:rPr>
              <a:t>Validação humana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37307" y="4621410"/>
            <a:ext cx="3116437" cy="272491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1857"/>
              </a:lnSpc>
              <a:spcBef>
                <a:spcPts val="0"/>
              </a:spcBef>
              <a:spcAft>
                <a:spcPts val="0"/>
              </a:spcAft>
            </a:pPr>
            <a:r>
              <a:rPr sz="1238" b="0">
                <a:solidFill>
                  <a:srgbClr val="0F1108"/>
                </a:solidFill>
                <a:latin typeface="Outfit"/>
              </a:rPr>
              <a:t>O especialista revisa, decide 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37307" y="4857326"/>
            <a:ext cx="2027801" cy="272491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1857"/>
              </a:lnSpc>
              <a:spcBef>
                <a:spcPts val="0"/>
              </a:spcBef>
              <a:spcAft>
                <a:spcPts val="0"/>
              </a:spcAft>
            </a:pPr>
            <a:r>
              <a:rPr sz="1238" b="0">
                <a:solidFill>
                  <a:srgbClr val="0F1108"/>
                </a:solidFill>
                <a:latin typeface="Outfit"/>
              </a:rPr>
              <a:t>assume o controle.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9-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53440" y="1950481"/>
            <a:ext cx="1980295" cy="233171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1548"/>
              </a:lnSpc>
              <a:spcBef>
                <a:spcPts val="0"/>
              </a:spcBef>
              <a:spcAft>
                <a:spcPts val="0"/>
              </a:spcAft>
            </a:pPr>
            <a:r>
              <a:rPr sz="1031" b="0">
                <a:solidFill>
                  <a:srgbClr val="EF476F"/>
                </a:solidFill>
                <a:latin typeface="Outfit SemiBold"/>
              </a:rPr>
              <a:t>PRÓXIMO PASSO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3440" y="2335768"/>
            <a:ext cx="3627834" cy="129479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6604"/>
              </a:lnSpc>
              <a:spcBef>
                <a:spcPts val="0"/>
              </a:spcBef>
              <a:spcAft>
                <a:spcPts val="0"/>
              </a:spcAft>
            </a:pPr>
            <a:r>
              <a:rPr sz="6604" b="0">
                <a:solidFill>
                  <a:srgbClr val="FFFFFC"/>
                </a:solidFill>
                <a:latin typeface="Outfit Medium"/>
              </a:rPr>
              <a:t>Vamos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3440" y="3174577"/>
            <a:ext cx="8103060" cy="129479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6604"/>
              </a:lnSpc>
              <a:spcBef>
                <a:spcPts val="0"/>
              </a:spcBef>
              <a:spcAft>
                <a:spcPts val="0"/>
              </a:spcAft>
            </a:pPr>
            <a:r>
              <a:rPr sz="6604" b="0">
                <a:solidFill>
                  <a:srgbClr val="FFFFFC"/>
                </a:solidFill>
                <a:latin typeface="Outfit Medium"/>
              </a:rPr>
              <a:t>construir juntos.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0336" y="2270760"/>
            <a:ext cx="1505069" cy="225308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1486"/>
              </a:lnSpc>
              <a:spcBef>
                <a:spcPts val="0"/>
              </a:spcBef>
              <a:spcAft>
                <a:spcPts val="0"/>
              </a:spcAft>
            </a:pPr>
            <a:r>
              <a:rPr sz="990" b="0">
                <a:solidFill>
                  <a:srgbClr val="9381FF"/>
                </a:solidFill>
                <a:latin typeface="Outfit SemiBold"/>
              </a:rPr>
              <a:t>COMERCIAL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0336" y="2522339"/>
            <a:ext cx="3501985" cy="382584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2724"/>
              </a:lnSpc>
              <a:spcBef>
                <a:spcPts val="0"/>
              </a:spcBef>
              <a:spcAft>
                <a:spcPts val="0"/>
              </a:spcAft>
            </a:pPr>
            <a:r>
              <a:rPr sz="1816" b="0">
                <a:solidFill>
                  <a:srgbClr val="FFFFFC"/>
                </a:solidFill>
                <a:latin typeface="Outfit Medium"/>
              </a:rPr>
              <a:t>contato@neuralmind.ai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0336" y="3130272"/>
            <a:ext cx="692634" cy="225308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1486"/>
              </a:lnSpc>
              <a:spcBef>
                <a:spcPts val="0"/>
              </a:spcBef>
              <a:spcAft>
                <a:spcPts val="0"/>
              </a:spcAft>
            </a:pPr>
            <a:r>
              <a:rPr sz="990" b="0">
                <a:solidFill>
                  <a:srgbClr val="9381FF"/>
                </a:solidFill>
                <a:latin typeface="Outfit SemiBold"/>
              </a:rPr>
              <a:t>WEB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0336" y="3381851"/>
            <a:ext cx="2161151" cy="382584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2724"/>
              </a:lnSpc>
              <a:spcBef>
                <a:spcPts val="0"/>
              </a:spcBef>
              <a:spcAft>
                <a:spcPts val="0"/>
              </a:spcAft>
            </a:pPr>
            <a:r>
              <a:rPr sz="1816" b="0">
                <a:solidFill>
                  <a:srgbClr val="FFFFFC"/>
                </a:solidFill>
                <a:latin typeface="Outfit Medium"/>
              </a:rPr>
              <a:t>neuralmind.ai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0336" y="3989784"/>
            <a:ext cx="1267205" cy="225308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1486"/>
              </a:lnSpc>
              <a:spcBef>
                <a:spcPts val="0"/>
              </a:spcBef>
              <a:spcAft>
                <a:spcPts val="0"/>
              </a:spcAft>
            </a:pPr>
            <a:r>
              <a:rPr sz="990" b="0">
                <a:solidFill>
                  <a:srgbClr val="9381FF"/>
                </a:solidFill>
                <a:latin typeface="Outfit SemiBold"/>
              </a:rPr>
              <a:t>LINKEDIN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0336" y="4241363"/>
            <a:ext cx="2397513" cy="382584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2724"/>
              </a:lnSpc>
              <a:spcBef>
                <a:spcPts val="0"/>
              </a:spcBef>
              <a:spcAft>
                <a:spcPts val="0"/>
              </a:spcAft>
            </a:pPr>
            <a:r>
              <a:rPr sz="1816" b="0">
                <a:solidFill>
                  <a:srgbClr val="FFFFFC"/>
                </a:solidFill>
                <a:latin typeface="Outfit Medium"/>
              </a:rPr>
              <a:t>@neuralmind.ai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0-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949440" y="1173599"/>
            <a:ext cx="1324546" cy="265176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EF476F"/>
                </a:solidFill>
                <a:latin typeface="Outfit SemiBold"/>
              </a:rPr>
              <a:t>PESSOAS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949440" y="1694735"/>
            <a:ext cx="2463522" cy="1042416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5280"/>
              </a:lnSpc>
              <a:spcBef>
                <a:spcPts val="0"/>
              </a:spcBef>
              <a:spcAft>
                <a:spcPts val="0"/>
              </a:spcAft>
            </a:pPr>
            <a:r>
              <a:rPr sz="5280" b="0">
                <a:solidFill>
                  <a:srgbClr val="FFFFFC"/>
                </a:solidFill>
                <a:latin typeface="Outfit Medium"/>
              </a:rPr>
              <a:t>A IA 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949440" y="2365295"/>
            <a:ext cx="4239744" cy="1042416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5280"/>
              </a:lnSpc>
              <a:spcBef>
                <a:spcPts val="0"/>
              </a:spcBef>
              <a:spcAft>
                <a:spcPts val="0"/>
              </a:spcAft>
            </a:pPr>
            <a:r>
              <a:rPr sz="5280" b="0">
                <a:solidFill>
                  <a:srgbClr val="FFFFFC"/>
                </a:solidFill>
                <a:latin typeface="Outfit Medium"/>
              </a:rPr>
              <a:t>poderosa.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949440" y="3035855"/>
            <a:ext cx="4797480" cy="1042416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5280"/>
              </a:lnSpc>
              <a:spcBef>
                <a:spcPts val="0"/>
              </a:spcBef>
              <a:spcAft>
                <a:spcPts val="0"/>
              </a:spcAft>
            </a:pPr>
            <a:r>
              <a:rPr sz="5280" b="0">
                <a:solidFill>
                  <a:srgbClr val="FFFFFC"/>
                </a:solidFill>
                <a:latin typeface="Outfit Medium"/>
              </a:rPr>
              <a:t>As pessoas,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49440" y="3706415"/>
            <a:ext cx="6144648" cy="1042416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5280"/>
              </a:lnSpc>
              <a:spcBef>
                <a:spcPts val="0"/>
              </a:spcBef>
              <a:spcAft>
                <a:spcPts val="0"/>
              </a:spcAft>
            </a:pPr>
            <a:r>
              <a:rPr sz="5280" b="0">
                <a:solidFill>
                  <a:srgbClr val="FFFFFC"/>
                </a:solidFill>
                <a:latin typeface="Outfit Medium"/>
              </a:rPr>
              <a:t>indispensáveis.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49440" y="4669512"/>
            <a:ext cx="4951833" cy="374904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2663"/>
              </a:lnSpc>
              <a:spcBef>
                <a:spcPts val="0"/>
              </a:spcBef>
              <a:spcAft>
                <a:spcPts val="0"/>
              </a:spcAft>
            </a:pPr>
            <a:r>
              <a:rPr sz="1776" b="0">
                <a:solidFill>
                  <a:srgbClr val="FFFFFC"/>
                </a:solidFill>
                <a:latin typeface="Outfit"/>
              </a:rPr>
              <a:t>Construímos modelos para apoiar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49440" y="5007840"/>
            <a:ext cx="5758100" cy="374904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2663"/>
              </a:lnSpc>
              <a:spcBef>
                <a:spcPts val="0"/>
              </a:spcBef>
              <a:spcAft>
                <a:spcPts val="0"/>
              </a:spcAft>
            </a:pPr>
            <a:r>
              <a:rPr sz="1776" b="0">
                <a:solidFill>
                  <a:srgbClr val="FFFFFC"/>
                </a:solidFill>
                <a:latin typeface="Outfit"/>
              </a:rPr>
              <a:t>especialistas — não para substituí-los. 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49440" y="5346168"/>
            <a:ext cx="5963959" cy="374904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2663"/>
              </a:lnSpc>
              <a:spcBef>
                <a:spcPts val="0"/>
              </a:spcBef>
              <a:spcAft>
                <a:spcPts val="0"/>
              </a:spcAft>
            </a:pPr>
            <a:r>
              <a:rPr sz="1776" b="0">
                <a:solidFill>
                  <a:srgbClr val="FFFFFC"/>
                </a:solidFill>
                <a:latin typeface="Outfit"/>
              </a:rPr>
              <a:t>última palavra é, e segue sendo, humana.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1-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04624" y="885825"/>
            <a:ext cx="1921287" cy="265176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290241"/>
                </a:solidFill>
                <a:latin typeface="Outfit SemiBold"/>
              </a:rPr>
              <a:t>QUEM SOMOS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4624" y="1358265"/>
            <a:ext cx="6030634" cy="896112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4331"/>
              </a:lnSpc>
              <a:spcBef>
                <a:spcPts val="0"/>
              </a:spcBef>
              <a:spcAft>
                <a:spcPts val="0"/>
              </a:spcAft>
            </a:pPr>
            <a:r>
              <a:rPr sz="4512" b="0">
                <a:solidFill>
                  <a:srgbClr val="0F1108"/>
                </a:solidFill>
                <a:latin typeface="Outfit Medium"/>
              </a:rPr>
              <a:t>Ciência aplicada.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24" y="1908368"/>
            <a:ext cx="6197488" cy="896112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4331"/>
              </a:lnSpc>
              <a:spcBef>
                <a:spcPts val="0"/>
              </a:spcBef>
              <a:spcAft>
                <a:spcPts val="0"/>
              </a:spcAft>
            </a:pPr>
            <a:r>
              <a:rPr sz="4512" b="0">
                <a:solidFill>
                  <a:srgbClr val="0F1108"/>
                </a:solidFill>
                <a:latin typeface="Outfit Medium"/>
              </a:rPr>
              <a:t>Responsabilidade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624" y="2458471"/>
            <a:ext cx="1745099" cy="896112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4331"/>
              </a:lnSpc>
              <a:spcBef>
                <a:spcPts val="0"/>
              </a:spcBef>
              <a:spcAft>
                <a:spcPts val="0"/>
              </a:spcAft>
            </a:pPr>
            <a:r>
              <a:rPr sz="4512" b="0">
                <a:solidFill>
                  <a:srgbClr val="0F1108"/>
                </a:solidFill>
                <a:latin typeface="Outfit Medium"/>
              </a:rPr>
              <a:t>real.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24" y="3252311"/>
            <a:ext cx="5895784" cy="356615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2604"/>
              </a:lnSpc>
              <a:spcBef>
                <a:spcPts val="0"/>
              </a:spcBef>
              <a:spcAft>
                <a:spcPts val="0"/>
              </a:spcAft>
            </a:pPr>
            <a:r>
              <a:rPr sz="1680" b="0">
                <a:solidFill>
                  <a:srgbClr val="0F1108"/>
                </a:solidFill>
                <a:latin typeface="Outfit"/>
              </a:rPr>
              <a:t>Fundada por Patricia Magalhães e Roberto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24" y="3583019"/>
            <a:ext cx="5787437" cy="356615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2604"/>
              </a:lnSpc>
              <a:spcBef>
                <a:spcPts val="0"/>
              </a:spcBef>
              <a:spcAft>
                <a:spcPts val="0"/>
              </a:spcAft>
            </a:pPr>
            <a:r>
              <a:rPr sz="1680" b="0">
                <a:solidFill>
                  <a:srgbClr val="0F1108"/>
                </a:solidFill>
                <a:latin typeface="Outfit"/>
              </a:rPr>
              <a:t>Lotufo, a NeuralMind transforma pesquisa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24" y="3913727"/>
            <a:ext cx="5093517" cy="356615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2604"/>
              </a:lnSpc>
              <a:spcBef>
                <a:spcPts val="0"/>
              </a:spcBef>
              <a:spcAft>
                <a:spcPts val="0"/>
              </a:spcAft>
            </a:pPr>
            <a:r>
              <a:rPr sz="1680" b="0">
                <a:solidFill>
                  <a:srgbClr val="0F1108"/>
                </a:solidFill>
                <a:latin typeface="Outfit"/>
              </a:rPr>
              <a:t>em inteligência confiável para apoiar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24" y="4244435"/>
            <a:ext cx="6161484" cy="356615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2604"/>
              </a:lnSpc>
              <a:spcBef>
                <a:spcPts val="0"/>
              </a:spcBef>
              <a:spcAft>
                <a:spcPts val="0"/>
              </a:spcAft>
            </a:pPr>
            <a:r>
              <a:rPr sz="1680" b="0">
                <a:solidFill>
                  <a:srgbClr val="0F1108"/>
                </a:solidFill>
                <a:latin typeface="Outfit"/>
              </a:rPr>
              <a:t>organizações diante de decisões complexas 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24" y="4575143"/>
            <a:ext cx="2348507" cy="356615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2604"/>
              </a:lnSpc>
              <a:spcBef>
                <a:spcPts val="0"/>
              </a:spcBef>
              <a:spcAft>
                <a:spcPts val="0"/>
              </a:spcAft>
            </a:pPr>
            <a:r>
              <a:rPr sz="1680" b="0">
                <a:solidFill>
                  <a:srgbClr val="0F1108"/>
                </a:solidFill>
                <a:latin typeface="Outfit"/>
              </a:rPr>
              <a:t>de alto impacto.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4164" y="5222438"/>
            <a:ext cx="2122812" cy="219456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960"/>
              </a:lnSpc>
              <a:spcBef>
                <a:spcPts val="0"/>
              </a:spcBef>
              <a:spcAft>
                <a:spcPts val="0"/>
              </a:spcAft>
            </a:pPr>
            <a:r>
              <a:rPr sz="960" b="1">
                <a:solidFill>
                  <a:srgbClr val="290241"/>
                </a:solidFill>
                <a:latin typeface="Outfit"/>
              </a:rPr>
              <a:t>RIGOR CIENTÍFICO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47830" y="5222438"/>
            <a:ext cx="2084141" cy="219456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960"/>
              </a:lnSpc>
              <a:spcBef>
                <a:spcPts val="0"/>
              </a:spcBef>
              <a:spcAft>
                <a:spcPts val="0"/>
              </a:spcAft>
            </a:pPr>
            <a:r>
              <a:rPr sz="960" b="1">
                <a:solidFill>
                  <a:srgbClr val="290241"/>
                </a:solidFill>
                <a:latin typeface="Outfit"/>
              </a:rPr>
              <a:t>DECISÃO HUMANA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4164" y="5639871"/>
            <a:ext cx="2440185" cy="219456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960"/>
              </a:lnSpc>
              <a:spcBef>
                <a:spcPts val="0"/>
              </a:spcBef>
              <a:spcAft>
                <a:spcPts val="0"/>
              </a:spcAft>
            </a:pPr>
            <a:r>
              <a:rPr sz="960" b="1">
                <a:solidFill>
                  <a:srgbClr val="290241"/>
                </a:solidFill>
                <a:latin typeface="Outfit"/>
              </a:rPr>
              <a:t>SETORES REGULADOS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896570" y="5621059"/>
            <a:ext cx="2887408" cy="374904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2663"/>
              </a:lnSpc>
              <a:spcBef>
                <a:spcPts val="0"/>
              </a:spcBef>
              <a:spcAft>
                <a:spcPts val="0"/>
              </a:spcAft>
            </a:pPr>
            <a:r>
              <a:rPr sz="1776" b="0">
                <a:solidFill>
                  <a:srgbClr val="FFFFFC"/>
                </a:solidFill>
                <a:latin typeface="Outfit Medium"/>
              </a:rPr>
              <a:t>Patricia Magalhães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96570" y="6003131"/>
            <a:ext cx="2443853" cy="201168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1296"/>
              </a:lnSpc>
              <a:spcBef>
                <a:spcPts val="0"/>
              </a:spcBef>
              <a:spcAft>
                <a:spcPts val="0"/>
              </a:spcAft>
            </a:pPr>
            <a:r>
              <a:rPr sz="864" b="0">
                <a:solidFill>
                  <a:srgbClr val="EF476F"/>
                </a:solidFill>
                <a:latin typeface="Outfit SemiBold"/>
              </a:rPr>
              <a:t>CO-FUNDADORA &amp; CEO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62667" y="5621059"/>
            <a:ext cx="2309336" cy="374904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2663"/>
              </a:lnSpc>
              <a:spcBef>
                <a:spcPts val="0"/>
              </a:spcBef>
              <a:spcAft>
                <a:spcPts val="0"/>
              </a:spcAft>
            </a:pPr>
            <a:r>
              <a:rPr sz="1776" b="0">
                <a:solidFill>
                  <a:srgbClr val="FFFFFC"/>
                </a:solidFill>
                <a:latin typeface="Outfit Medium"/>
              </a:rPr>
              <a:t>Roberto Lotufo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62667" y="6003131"/>
            <a:ext cx="2314170" cy="201168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1296"/>
              </a:lnSpc>
              <a:spcBef>
                <a:spcPts val="0"/>
              </a:spcBef>
              <a:spcAft>
                <a:spcPts val="0"/>
              </a:spcAft>
            </a:pPr>
            <a:r>
              <a:rPr sz="864" b="0">
                <a:solidFill>
                  <a:srgbClr val="EF476F"/>
                </a:solidFill>
                <a:latin typeface="Outfit SemiBold"/>
              </a:rPr>
              <a:t>CO-FUNDADOR &amp; CTO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2-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53440" y="853440"/>
            <a:ext cx="2270498" cy="265176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EF476F"/>
                </a:solidFill>
                <a:latin typeface="Outfit SemiBold"/>
              </a:rPr>
              <a:t>PRÓXIMO PASSO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3440" y="1325880"/>
            <a:ext cx="3687508" cy="1316736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6720"/>
              </a:lnSpc>
              <a:spcBef>
                <a:spcPts val="0"/>
              </a:spcBef>
              <a:spcAft>
                <a:spcPts val="0"/>
              </a:spcAft>
            </a:pPr>
            <a:r>
              <a:rPr sz="6720" b="0">
                <a:solidFill>
                  <a:srgbClr val="FFFFFC"/>
                </a:solidFill>
                <a:latin typeface="Outfit Medium"/>
              </a:rPr>
              <a:t>Vamos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3440" y="2179320"/>
            <a:ext cx="8240910" cy="1316736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6720"/>
              </a:lnSpc>
              <a:spcBef>
                <a:spcPts val="0"/>
              </a:spcBef>
              <a:spcAft>
                <a:spcPts val="0"/>
              </a:spcAft>
            </a:pPr>
            <a:r>
              <a:rPr sz="6720" b="0">
                <a:solidFill>
                  <a:srgbClr val="FFFFFC"/>
                </a:solidFill>
                <a:latin typeface="Outfit Medium"/>
              </a:rPr>
              <a:t>construir juntos.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17812" y="5355312"/>
            <a:ext cx="1653920" cy="246887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1655"/>
              </a:lnSpc>
              <a:spcBef>
                <a:spcPts val="0"/>
              </a:spcBef>
              <a:spcAft>
                <a:spcPts val="0"/>
              </a:spcAft>
            </a:pPr>
            <a:r>
              <a:rPr sz="1104" b="0">
                <a:solidFill>
                  <a:srgbClr val="FFFFFC"/>
                </a:solidFill>
                <a:latin typeface="Outfit SemiBold"/>
              </a:rPr>
              <a:t>COMERCIAL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62750" y="5638800"/>
            <a:ext cx="3691008" cy="402336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2879"/>
              </a:lnSpc>
              <a:spcBef>
                <a:spcPts val="0"/>
              </a:spcBef>
              <a:spcAft>
                <a:spcPts val="0"/>
              </a:spcAft>
            </a:pPr>
            <a:r>
              <a:rPr sz="1920" b="0">
                <a:solidFill>
                  <a:srgbClr val="FFFFFC"/>
                </a:solidFill>
                <a:latin typeface="Outfit Medium"/>
              </a:rPr>
              <a:t>contato@neuralmind.ai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51011" y="5355312"/>
            <a:ext cx="748307" cy="246887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1655"/>
              </a:lnSpc>
              <a:spcBef>
                <a:spcPts val="0"/>
              </a:spcBef>
              <a:spcAft>
                <a:spcPts val="0"/>
              </a:spcAft>
            </a:pPr>
            <a:r>
              <a:rPr sz="1104" b="0">
                <a:solidFill>
                  <a:srgbClr val="FFFFFC"/>
                </a:solidFill>
                <a:latin typeface="Outfit SemiBold"/>
              </a:rPr>
              <a:t>WEB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61827" y="5638800"/>
            <a:ext cx="2273165" cy="402336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2879"/>
              </a:lnSpc>
              <a:spcBef>
                <a:spcPts val="0"/>
              </a:spcBef>
              <a:spcAft>
                <a:spcPts val="0"/>
              </a:spcAft>
            </a:pPr>
            <a:r>
              <a:rPr sz="1920" b="0">
                <a:solidFill>
                  <a:srgbClr val="FFFFFC"/>
                </a:solidFill>
                <a:latin typeface="Outfit Medium"/>
              </a:rPr>
              <a:t>neuralmind.ai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3-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55808" y="1355407"/>
            <a:ext cx="2834235" cy="236833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1576"/>
              </a:lnSpc>
              <a:spcBef>
                <a:spcPts val="0"/>
              </a:spcBef>
              <a:spcAft>
                <a:spcPts val="0"/>
              </a:spcAft>
            </a:pPr>
            <a:r>
              <a:rPr sz="1051" b="0">
                <a:solidFill>
                  <a:srgbClr val="290241"/>
                </a:solidFill>
                <a:latin typeface="Outfit SemiBold"/>
              </a:rPr>
              <a:t>PROCESSO EM 3 ETAPAS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55808" y="1961316"/>
            <a:ext cx="6011465" cy="797553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3914"/>
              </a:lnSpc>
              <a:spcBef>
                <a:spcPts val="0"/>
              </a:spcBef>
              <a:spcAft>
                <a:spcPts val="0"/>
              </a:spcAft>
            </a:pPr>
            <a:r>
              <a:rPr sz="3994" b="0">
                <a:solidFill>
                  <a:srgbClr val="0F1108"/>
                </a:solidFill>
                <a:latin typeface="Outfit Medium"/>
              </a:rPr>
              <a:t>Da complexidade 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55808" y="2458488"/>
            <a:ext cx="6316837" cy="797553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3914"/>
              </a:lnSpc>
              <a:spcBef>
                <a:spcPts val="0"/>
              </a:spcBef>
              <a:spcAft>
                <a:spcPts val="0"/>
              </a:spcAft>
            </a:pPr>
            <a:r>
              <a:rPr sz="3994" b="0">
                <a:solidFill>
                  <a:srgbClr val="0F1108"/>
                </a:solidFill>
                <a:latin typeface="Outfit Medium"/>
              </a:rPr>
              <a:t>clareza para decidir.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27977" y="2458997"/>
            <a:ext cx="6255829" cy="284895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1955"/>
              </a:lnSpc>
              <a:spcBef>
                <a:spcPts val="0"/>
              </a:spcBef>
              <a:spcAft>
                <a:spcPts val="0"/>
              </a:spcAft>
            </a:pPr>
            <a:r>
              <a:rPr sz="1303" b="0">
                <a:solidFill>
                  <a:srgbClr val="0F1108"/>
                </a:solidFill>
                <a:latin typeface="Outfit"/>
              </a:rPr>
              <a:t>Modelo para explicar jornadas curtas, pipelines comerciais,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27977" y="2707316"/>
            <a:ext cx="4164068" cy="284895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1955"/>
              </a:lnSpc>
              <a:spcBef>
                <a:spcPts val="0"/>
              </a:spcBef>
              <a:spcAft>
                <a:spcPts val="0"/>
              </a:spcAft>
            </a:pPr>
            <a:r>
              <a:rPr sz="1303" b="0">
                <a:solidFill>
                  <a:srgbClr val="0F1108"/>
                </a:solidFill>
                <a:latin typeface="Outfit"/>
              </a:rPr>
              <a:t>onboarding ou etapas de implantação.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8197" y="3876079"/>
            <a:ext cx="404598" cy="204792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1324"/>
              </a:lnSpc>
              <a:spcBef>
                <a:spcPts val="0"/>
              </a:spcBef>
              <a:spcAft>
                <a:spcPts val="0"/>
              </a:spcAft>
            </a:pPr>
            <a:r>
              <a:rPr sz="883" b="0">
                <a:solidFill>
                  <a:srgbClr val="FFFFFC"/>
                </a:solidFill>
                <a:latin typeface="Outfit SemiBold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5808" y="4562832"/>
            <a:ext cx="1506735" cy="43709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3153"/>
              </a:lnSpc>
              <a:spcBef>
                <a:spcPts val="0"/>
              </a:spcBef>
              <a:spcAft>
                <a:spcPts val="0"/>
              </a:spcAft>
            </a:pPr>
            <a:r>
              <a:rPr sz="2102" b="0">
                <a:solidFill>
                  <a:srgbClr val="0F1108"/>
                </a:solidFill>
                <a:latin typeface="Outfit Medium"/>
              </a:rPr>
              <a:t>Mapear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5808" y="5096827"/>
            <a:ext cx="4603956" cy="248047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1598"/>
              </a:lnSpc>
              <a:spcBef>
                <a:spcPts val="0"/>
              </a:spcBef>
              <a:spcAft>
                <a:spcPts val="0"/>
              </a:spcAft>
            </a:pPr>
            <a:r>
              <a:rPr sz="1110" b="0">
                <a:solidFill>
                  <a:srgbClr val="0F1108"/>
                </a:solidFill>
                <a:latin typeface="Outfit"/>
              </a:rPr>
              <a:t>Identificamos fontes, regras de negócio, usuários 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5808" y="5299840"/>
            <a:ext cx="4260580" cy="248047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1598"/>
              </a:lnSpc>
              <a:spcBef>
                <a:spcPts val="0"/>
              </a:spcBef>
              <a:spcAft>
                <a:spcPts val="0"/>
              </a:spcAft>
            </a:pPr>
            <a:r>
              <a:rPr sz="1110" b="0">
                <a:solidFill>
                  <a:srgbClr val="0F1108"/>
                </a:solidFill>
                <a:latin typeface="Outfit"/>
              </a:rPr>
              <a:t>pontos de decisão que exigem rastreabilidade.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19480" y="3876079"/>
            <a:ext cx="433768" cy="204792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1324"/>
              </a:lnSpc>
              <a:spcBef>
                <a:spcPts val="0"/>
              </a:spcBef>
              <a:spcAft>
                <a:spcPts val="0"/>
              </a:spcAft>
            </a:pPr>
            <a:r>
              <a:rPr sz="883" b="0">
                <a:solidFill>
                  <a:srgbClr val="FFFFFC"/>
                </a:solidFill>
                <a:latin typeface="Outfit SemiBold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67450" y="4359949"/>
            <a:ext cx="1732097" cy="43709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3153"/>
              </a:lnSpc>
              <a:spcBef>
                <a:spcPts val="0"/>
              </a:spcBef>
              <a:spcAft>
                <a:spcPts val="0"/>
              </a:spcAft>
            </a:pPr>
            <a:r>
              <a:rPr sz="2102" b="0">
                <a:solidFill>
                  <a:srgbClr val="0F1108"/>
                </a:solidFill>
                <a:latin typeface="Outfit Medium"/>
              </a:rPr>
              <a:t>Construir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67450" y="4893945"/>
            <a:ext cx="4061055" cy="248047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1598"/>
              </a:lnSpc>
              <a:spcBef>
                <a:spcPts val="0"/>
              </a:spcBef>
              <a:spcAft>
                <a:spcPts val="0"/>
              </a:spcAft>
            </a:pPr>
            <a:r>
              <a:rPr sz="1110" b="0">
                <a:solidFill>
                  <a:srgbClr val="0F1108"/>
                </a:solidFill>
                <a:latin typeface="Outfit"/>
              </a:rPr>
              <a:t>Combinamos modelos especializados, busca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67450" y="5096957"/>
            <a:ext cx="4053220" cy="248047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1598"/>
              </a:lnSpc>
              <a:spcBef>
                <a:spcPts val="0"/>
              </a:spcBef>
              <a:spcAft>
                <a:spcPts val="0"/>
              </a:spcAft>
            </a:pPr>
            <a:r>
              <a:rPr sz="1110" b="0">
                <a:solidFill>
                  <a:srgbClr val="0F1108"/>
                </a:solidFill>
                <a:latin typeface="Outfit"/>
              </a:rPr>
              <a:t>semântica e agentes para criar uma solução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67450" y="5299970"/>
            <a:ext cx="1278207" cy="248047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1598"/>
              </a:lnSpc>
              <a:spcBef>
                <a:spcPts val="0"/>
              </a:spcBef>
              <a:spcAft>
                <a:spcPts val="0"/>
              </a:spcAft>
            </a:pPr>
            <a:r>
              <a:rPr sz="1110" b="0">
                <a:solidFill>
                  <a:srgbClr val="0F1108"/>
                </a:solidFill>
                <a:latin typeface="Outfit"/>
              </a:rPr>
              <a:t>sob medida.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31360" y="3876079"/>
            <a:ext cx="433268" cy="204792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1324"/>
              </a:lnSpc>
              <a:spcBef>
                <a:spcPts val="0"/>
              </a:spcBef>
              <a:spcAft>
                <a:spcPts val="0"/>
              </a:spcAft>
            </a:pPr>
            <a:r>
              <a:rPr sz="883" b="0">
                <a:solidFill>
                  <a:srgbClr val="FFFFFC"/>
                </a:solidFill>
                <a:latin typeface="Outfit SemiBold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79211" y="4562832"/>
            <a:ext cx="1387054" cy="43709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3153"/>
              </a:lnSpc>
              <a:spcBef>
                <a:spcPts val="0"/>
              </a:spcBef>
              <a:spcAft>
                <a:spcPts val="0"/>
              </a:spcAft>
            </a:pPr>
            <a:r>
              <a:rPr sz="2102" b="0">
                <a:solidFill>
                  <a:srgbClr val="0F1108"/>
                </a:solidFill>
                <a:latin typeface="Outfit Medium"/>
              </a:rPr>
              <a:t>Validar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79211" y="5096827"/>
            <a:ext cx="4783645" cy="248047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1598"/>
              </a:lnSpc>
              <a:spcBef>
                <a:spcPts val="0"/>
              </a:spcBef>
              <a:spcAft>
                <a:spcPts val="0"/>
              </a:spcAft>
            </a:pPr>
            <a:r>
              <a:rPr sz="1110" b="0">
                <a:solidFill>
                  <a:srgbClr val="0F1108"/>
                </a:solidFill>
                <a:latin typeface="Outfit"/>
              </a:rPr>
              <a:t>Especialistas revisam saídas, monitoram qualidade 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79211" y="5299840"/>
            <a:ext cx="3690508" cy="248047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1598"/>
              </a:lnSpc>
              <a:spcBef>
                <a:spcPts val="0"/>
              </a:spcBef>
              <a:spcAft>
                <a:spcPts val="0"/>
              </a:spcAft>
            </a:pPr>
            <a:r>
              <a:rPr sz="1110" b="0">
                <a:solidFill>
                  <a:srgbClr val="0F1108"/>
                </a:solidFill>
                <a:latin typeface="Outfit"/>
              </a:rPr>
              <a:t>transformam IA em operação confiável.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4-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55808" y="682704"/>
            <a:ext cx="3269456" cy="236833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1576"/>
              </a:lnSpc>
              <a:spcBef>
                <a:spcPts val="0"/>
              </a:spcBef>
              <a:spcAft>
                <a:spcPts val="0"/>
              </a:spcAft>
            </a:pPr>
            <a:r>
              <a:rPr sz="1051" b="0">
                <a:solidFill>
                  <a:srgbClr val="EF476F"/>
                </a:solidFill>
                <a:latin typeface="Outfit SemiBold"/>
              </a:rPr>
              <a:t>ARQUITETURA DE PRODUTO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55808" y="1288613"/>
            <a:ext cx="2888575" cy="1254133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5752"/>
              </a:lnSpc>
              <a:spcBef>
                <a:spcPts val="0"/>
              </a:spcBef>
              <a:spcAft>
                <a:spcPts val="0"/>
              </a:spcAft>
            </a:pPr>
            <a:r>
              <a:rPr sz="6391" b="0">
                <a:solidFill>
                  <a:srgbClr val="FFFFFC"/>
                </a:solidFill>
                <a:latin typeface="Outfit Medium"/>
              </a:rPr>
              <a:t>SofIA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82282" y="1452205"/>
            <a:ext cx="5410890" cy="397039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2232"/>
              </a:lnSpc>
              <a:spcBef>
                <a:spcPts val="0"/>
              </a:spcBef>
              <a:spcAft>
                <a:spcPts val="0"/>
              </a:spcAft>
            </a:pPr>
            <a:r>
              <a:rPr sz="1892" b="0">
                <a:solidFill>
                  <a:srgbClr val="FFFFFC"/>
                </a:solidFill>
                <a:latin typeface="Outfit"/>
              </a:rPr>
              <a:t>Jurídico e regulatório, com soluções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82282" y="1735769"/>
            <a:ext cx="5177361" cy="397039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2232"/>
              </a:lnSpc>
              <a:spcBef>
                <a:spcPts val="0"/>
              </a:spcBef>
              <a:spcAft>
                <a:spcPts val="0"/>
              </a:spcAft>
            </a:pPr>
            <a:r>
              <a:rPr sz="1892" b="0">
                <a:solidFill>
                  <a:srgbClr val="FFFFFC"/>
                </a:solidFill>
                <a:latin typeface="Outfit"/>
              </a:rPr>
              <a:t>especializadas e modelos Jurema.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56991" y="2846189"/>
            <a:ext cx="1994963" cy="18076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1135"/>
              </a:lnSpc>
              <a:spcBef>
                <a:spcPts val="0"/>
              </a:spcBef>
              <a:spcAft>
                <a:spcPts val="0"/>
              </a:spcAft>
            </a:pPr>
            <a:r>
              <a:rPr sz="756" b="1">
                <a:solidFill>
                  <a:srgbClr val="EF476F"/>
                </a:solidFill>
                <a:latin typeface="Outfit"/>
              </a:rPr>
              <a:t>PRODUTO PRINCIPAL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536644" y="3080980"/>
            <a:ext cx="1771935" cy="741481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3515"/>
              </a:lnSpc>
              <a:spcBef>
                <a:spcPts val="0"/>
              </a:spcBef>
              <a:spcAft>
                <a:spcPts val="0"/>
              </a:spcAft>
            </a:pPr>
            <a:r>
              <a:rPr sz="3700" b="0">
                <a:solidFill>
                  <a:srgbClr val="FFFFFC"/>
                </a:solidFill>
                <a:latin typeface="Outfit Medium"/>
              </a:rPr>
              <a:t>SofIA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36638" y="3618071"/>
            <a:ext cx="4571785" cy="236833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1471"/>
              </a:lnSpc>
              <a:spcBef>
                <a:spcPts val="0"/>
              </a:spcBef>
              <a:spcAft>
                <a:spcPts val="0"/>
              </a:spcAft>
            </a:pPr>
            <a:r>
              <a:rPr sz="1051" b="0">
                <a:solidFill>
                  <a:srgbClr val="FFFFFC"/>
                </a:solidFill>
                <a:latin typeface="Outfit"/>
              </a:rPr>
              <a:t>QSAMS e AssrtIA: aplicações para o trabalho jurídico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99164" y="3804977"/>
            <a:ext cx="1316545" cy="236833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1471"/>
              </a:lnSpc>
              <a:spcBef>
                <a:spcPts val="0"/>
              </a:spcBef>
              <a:spcAft>
                <a:spcPts val="0"/>
              </a:spcAft>
            </a:pPr>
            <a:r>
              <a:rPr sz="1051" b="0">
                <a:solidFill>
                  <a:srgbClr val="FFFFFC"/>
                </a:solidFill>
                <a:latin typeface="Outfit"/>
              </a:rPr>
              <a:t>e regulatório.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9641" y="5010150"/>
            <a:ext cx="1110019" cy="18076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1135"/>
              </a:lnSpc>
              <a:spcBef>
                <a:spcPts val="0"/>
              </a:spcBef>
              <a:spcAft>
                <a:spcPts val="0"/>
              </a:spcAft>
            </a:pPr>
            <a:r>
              <a:rPr sz="756" b="1">
                <a:solidFill>
                  <a:srgbClr val="9381FF"/>
                </a:solidFill>
                <a:latin typeface="Outfit"/>
              </a:rPr>
              <a:t>SOLUÇÕES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9641" y="5237321"/>
            <a:ext cx="2518529" cy="364997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2586"/>
              </a:lnSpc>
              <a:spcBef>
                <a:spcPts val="0"/>
              </a:spcBef>
              <a:spcAft>
                <a:spcPts val="0"/>
              </a:spcAft>
            </a:pPr>
            <a:r>
              <a:rPr sz="1723" b="0">
                <a:solidFill>
                  <a:srgbClr val="FFFFFC"/>
                </a:solidFill>
                <a:latin typeface="Outfit Medium"/>
              </a:rPr>
              <a:t>QSAMS + AssrtIA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9641" y="5645705"/>
            <a:ext cx="4466439" cy="21921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1361"/>
              </a:lnSpc>
              <a:spcBef>
                <a:spcPts val="0"/>
              </a:spcBef>
              <a:spcAft>
                <a:spcPts val="0"/>
              </a:spcAft>
            </a:pPr>
            <a:r>
              <a:rPr sz="958" b="0">
                <a:solidFill>
                  <a:srgbClr val="FFFFFC"/>
                </a:solidFill>
                <a:latin typeface="Outfit"/>
              </a:rPr>
              <a:t>Aplicações especializadas sob a marca SofIA. AssrtIA é 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9641" y="5818599"/>
            <a:ext cx="1882449" cy="21921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1361"/>
              </a:lnSpc>
              <a:spcBef>
                <a:spcPts val="0"/>
              </a:spcBef>
              <a:spcAft>
                <a:spcPts val="0"/>
              </a:spcAft>
            </a:pPr>
            <a:r>
              <a:rPr sz="958" b="0">
                <a:solidFill>
                  <a:srgbClr val="FFFFFC"/>
                </a:solidFill>
                <a:latin typeface="Outfit"/>
              </a:rPr>
              <a:t>aplicação para o TCU.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44258" y="5010150"/>
            <a:ext cx="2354508" cy="18076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1135"/>
              </a:lnSpc>
              <a:spcBef>
                <a:spcPts val="0"/>
              </a:spcBef>
              <a:spcAft>
                <a:spcPts val="0"/>
              </a:spcAft>
            </a:pPr>
            <a:r>
              <a:rPr sz="756" b="1">
                <a:solidFill>
                  <a:srgbClr val="9381FF"/>
                </a:solidFill>
                <a:latin typeface="Outfit"/>
              </a:rPr>
              <a:t>MODELO ESPECIALIZADO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44258" y="5237321"/>
            <a:ext cx="1226367" cy="364997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2586"/>
              </a:lnSpc>
              <a:spcBef>
                <a:spcPts val="0"/>
              </a:spcBef>
              <a:spcAft>
                <a:spcPts val="0"/>
              </a:spcAft>
            </a:pPr>
            <a:r>
              <a:rPr sz="1723" b="0">
                <a:solidFill>
                  <a:srgbClr val="FFFFFC"/>
                </a:solidFill>
                <a:latin typeface="Outfit Medium"/>
              </a:rPr>
              <a:t>Jurema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44258" y="5645705"/>
            <a:ext cx="3942707" cy="21921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1361"/>
              </a:lnSpc>
              <a:spcBef>
                <a:spcPts val="0"/>
              </a:spcBef>
              <a:spcAft>
                <a:spcPts val="0"/>
              </a:spcAft>
            </a:pPr>
            <a:r>
              <a:rPr sz="958" b="0">
                <a:solidFill>
                  <a:srgbClr val="FFFFFC"/>
                </a:solidFill>
                <a:latin typeface="Outfit"/>
              </a:rPr>
              <a:t>LLM jurídico brasileiro para linguagem, doutrina 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44258" y="5818599"/>
            <a:ext cx="2121646" cy="21921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1361"/>
              </a:lnSpc>
              <a:spcBef>
                <a:spcPts val="0"/>
              </a:spcBef>
              <a:spcAft>
                <a:spcPts val="0"/>
              </a:spcAft>
            </a:pPr>
            <a:r>
              <a:rPr sz="958" b="0">
                <a:solidFill>
                  <a:srgbClr val="FFFFFC"/>
                </a:solidFill>
                <a:latin typeface="Outfit"/>
              </a:rPr>
              <a:t>contexto normativo local.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48875" y="5010150"/>
            <a:ext cx="2224492" cy="18076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1135"/>
              </a:lnSpc>
              <a:spcBef>
                <a:spcPts val="0"/>
              </a:spcBef>
              <a:spcAft>
                <a:spcPts val="0"/>
              </a:spcAft>
            </a:pPr>
            <a:r>
              <a:rPr sz="756" b="1">
                <a:solidFill>
                  <a:srgbClr val="9381FF"/>
                </a:solidFill>
                <a:latin typeface="Outfit"/>
              </a:rPr>
              <a:t>CAMADA OPERACIONAL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48875" y="5237321"/>
            <a:ext cx="2922746" cy="364997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2586"/>
              </a:lnSpc>
              <a:spcBef>
                <a:spcPts val="0"/>
              </a:spcBef>
              <a:spcAft>
                <a:spcPts val="0"/>
              </a:spcAft>
            </a:pPr>
            <a:r>
              <a:rPr sz="1723" b="0">
                <a:solidFill>
                  <a:srgbClr val="FFFFFC"/>
                </a:solidFill>
                <a:latin typeface="Outfit Medium"/>
              </a:rPr>
              <a:t>Agentes &amp; Workflow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48875" y="5645705"/>
            <a:ext cx="4164234" cy="21921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1361"/>
              </a:lnSpc>
              <a:spcBef>
                <a:spcPts val="0"/>
              </a:spcBef>
              <a:spcAft>
                <a:spcPts val="0"/>
              </a:spcAft>
            </a:pPr>
            <a:r>
              <a:rPr sz="958" b="0">
                <a:solidFill>
                  <a:srgbClr val="FFFFFC"/>
                </a:solidFill>
                <a:latin typeface="Outfit"/>
              </a:rPr>
              <a:t>Orquestra tarefas, validações e próximos passos sob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48875" y="5818599"/>
            <a:ext cx="1720762" cy="21921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1361"/>
              </a:lnSpc>
              <a:spcBef>
                <a:spcPts val="0"/>
              </a:spcBef>
              <a:spcAft>
                <a:spcPts val="0"/>
              </a:spcAft>
            </a:pPr>
            <a:r>
              <a:rPr sz="958" b="0">
                <a:solidFill>
                  <a:srgbClr val="FFFFFC"/>
                </a:solidFill>
                <a:latin typeface="Outfit"/>
              </a:rPr>
              <a:t>supervisão humana.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5-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53440" y="1502687"/>
            <a:ext cx="2271331" cy="265176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EF476F"/>
                </a:solidFill>
                <a:latin typeface="Outfit SemiBold"/>
              </a:rPr>
              <a:t>ENCERRAMENTO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3440" y="1987272"/>
            <a:ext cx="5565909" cy="1353312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6497"/>
              </a:lnSpc>
              <a:spcBef>
                <a:spcPts val="0"/>
              </a:spcBef>
              <a:spcAft>
                <a:spcPts val="0"/>
              </a:spcAft>
            </a:pPr>
            <a:r>
              <a:rPr sz="6912" b="0">
                <a:solidFill>
                  <a:srgbClr val="FFFFFC"/>
                </a:solidFill>
                <a:latin typeface="Outfit Medium"/>
              </a:rPr>
              <a:t>Obrigado.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3440" y="3068359"/>
            <a:ext cx="3319295" cy="307238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2131"/>
              </a:lnSpc>
              <a:spcBef>
                <a:spcPts val="0"/>
              </a:spcBef>
              <a:spcAft>
                <a:spcPts val="0"/>
              </a:spcAft>
            </a:pPr>
            <a:r>
              <a:rPr sz="1420" b="0">
                <a:solidFill>
                  <a:srgbClr val="FFFFFC"/>
                </a:solidFill>
                <a:latin typeface="Outfit Medium"/>
              </a:rPr>
              <a:t>Kleber Edurado Vicente dos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3440" y="3339022"/>
            <a:ext cx="971502" cy="307238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2131"/>
              </a:lnSpc>
              <a:spcBef>
                <a:spcPts val="0"/>
              </a:spcBef>
              <a:spcAft>
                <a:spcPts val="0"/>
              </a:spcAft>
            </a:pPr>
            <a:r>
              <a:rPr sz="1420" b="0">
                <a:solidFill>
                  <a:srgbClr val="FFFFFC"/>
                </a:solidFill>
                <a:latin typeface="Outfit Medium"/>
              </a:rPr>
              <a:t>Santos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3440" y="3676888"/>
            <a:ext cx="3695342" cy="237744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1425"/>
              </a:lnSpc>
              <a:spcBef>
                <a:spcPts val="0"/>
              </a:spcBef>
              <a:spcAft>
                <a:spcPts val="0"/>
              </a:spcAft>
            </a:pPr>
            <a:r>
              <a:rPr sz="1056" b="0">
                <a:solidFill>
                  <a:srgbClr val="FFFFFC"/>
                </a:solidFill>
                <a:latin typeface="Outfit SemiBold"/>
              </a:rPr>
              <a:t>HEAD DE INOVAÇÃO, PRODUTOS 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3440" y="3857939"/>
            <a:ext cx="3747015" cy="237744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1425"/>
              </a:lnSpc>
              <a:spcBef>
                <a:spcPts val="0"/>
              </a:spcBef>
              <a:spcAft>
                <a:spcPts val="0"/>
              </a:spcAft>
            </a:pPr>
            <a:r>
              <a:rPr sz="1056" b="0">
                <a:solidFill>
                  <a:srgbClr val="FFFFFC"/>
                </a:solidFill>
                <a:latin typeface="Outfit SemiBold"/>
              </a:rPr>
              <a:t>DESENVOLVIMENTO DE NEGÓCIOS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3440" y="4509611"/>
            <a:ext cx="827484" cy="186537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1180"/>
              </a:lnSpc>
              <a:spcBef>
                <a:spcPts val="0"/>
              </a:spcBef>
              <a:spcAft>
                <a:spcPts val="0"/>
              </a:spcAft>
            </a:pPr>
            <a:r>
              <a:rPr sz="787" b="1">
                <a:solidFill>
                  <a:srgbClr val="EF476F"/>
                </a:solidFill>
                <a:latin typeface="Outfit"/>
              </a:rPr>
              <a:t>E-MAIL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3440" y="4705945"/>
            <a:ext cx="2036802" cy="246887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1655"/>
              </a:lnSpc>
              <a:spcBef>
                <a:spcPts val="0"/>
              </a:spcBef>
              <a:spcAft>
                <a:spcPts val="0"/>
              </a:spcAft>
            </a:pPr>
            <a:r>
              <a:rPr sz="1104" b="0">
                <a:solidFill>
                  <a:srgbClr val="FFFFFC"/>
                </a:solidFill>
                <a:latin typeface="Outfit Medium"/>
              </a:rPr>
              <a:t>nome@empresa.com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45512" y="4509611"/>
            <a:ext cx="1108186" cy="186537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1180"/>
              </a:lnSpc>
              <a:spcBef>
                <a:spcPts val="0"/>
              </a:spcBef>
              <a:spcAft>
                <a:spcPts val="0"/>
              </a:spcAft>
            </a:pPr>
            <a:r>
              <a:rPr sz="787" b="1">
                <a:solidFill>
                  <a:srgbClr val="EF476F"/>
                </a:solidFill>
                <a:latin typeface="Outfit"/>
              </a:rPr>
              <a:t>TELEFONE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45512" y="4705945"/>
            <a:ext cx="2109477" cy="246887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1655"/>
              </a:lnSpc>
              <a:spcBef>
                <a:spcPts val="0"/>
              </a:spcBef>
              <a:spcAft>
                <a:spcPts val="0"/>
              </a:spcAft>
            </a:pPr>
            <a:r>
              <a:rPr sz="1104" b="0">
                <a:solidFill>
                  <a:srgbClr val="FFFFFC"/>
                </a:solidFill>
                <a:latin typeface="Outfit Medium"/>
              </a:rPr>
              <a:t>+55 00 00000-0000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6-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04624" y="2085260"/>
            <a:ext cx="2018299" cy="237289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1580"/>
              </a:lnSpc>
              <a:spcBef>
                <a:spcPts val="0"/>
              </a:spcBef>
              <a:spcAft>
                <a:spcPts val="0"/>
              </a:spcAft>
            </a:pPr>
            <a:r>
              <a:rPr sz="1053" b="0">
                <a:solidFill>
                  <a:srgbClr val="290241"/>
                </a:solidFill>
                <a:latin typeface="Outfit SemiBold"/>
              </a:rPr>
              <a:t>ENCERRAMENTO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4624" y="2510790"/>
            <a:ext cx="4798980" cy="1176623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5685"/>
              </a:lnSpc>
              <a:spcBef>
                <a:spcPts val="0"/>
              </a:spcBef>
              <a:spcAft>
                <a:spcPts val="0"/>
              </a:spcAft>
            </a:pPr>
            <a:r>
              <a:rPr sz="5984" b="0">
                <a:solidFill>
                  <a:srgbClr val="0F1108"/>
                </a:solidFill>
                <a:latin typeface="Outfit Medium"/>
              </a:rPr>
              <a:t>Obrigado.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24" y="3457455"/>
            <a:ext cx="4187737" cy="301516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2016"/>
              </a:lnSpc>
              <a:spcBef>
                <a:spcPts val="0"/>
              </a:spcBef>
              <a:spcAft>
                <a:spcPts val="0"/>
              </a:spcAft>
            </a:pPr>
            <a:r>
              <a:rPr sz="1390" b="0">
                <a:solidFill>
                  <a:srgbClr val="0F1108"/>
                </a:solidFill>
                <a:latin typeface="Outfit"/>
              </a:rPr>
              <a:t>Fico à disposição para continuarmos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624" y="3713564"/>
            <a:ext cx="1791438" cy="301516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2016"/>
              </a:lnSpc>
              <a:spcBef>
                <a:spcPts val="0"/>
              </a:spcBef>
              <a:spcAft>
                <a:spcPts val="0"/>
              </a:spcAft>
            </a:pPr>
            <a:r>
              <a:rPr sz="1390" b="0">
                <a:solidFill>
                  <a:srgbClr val="0F1108"/>
                </a:solidFill>
                <a:latin typeface="Outfit"/>
              </a:rPr>
              <a:t>esta conversa.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24" y="4415909"/>
            <a:ext cx="751141" cy="168243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1036"/>
              </a:lnSpc>
              <a:spcBef>
                <a:spcPts val="0"/>
              </a:spcBef>
              <a:spcAft>
                <a:spcPts val="0"/>
              </a:spcAft>
            </a:pPr>
            <a:r>
              <a:rPr sz="691" b="1">
                <a:solidFill>
                  <a:srgbClr val="EF476F"/>
                </a:solidFill>
                <a:latin typeface="Outfit"/>
              </a:rPr>
              <a:t>E-MAIL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24" y="4588073"/>
            <a:ext cx="1812940" cy="221231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1453"/>
              </a:lnSpc>
              <a:spcBef>
                <a:spcPts val="0"/>
              </a:spcBef>
              <a:spcAft>
                <a:spcPts val="0"/>
              </a:spcAft>
            </a:pPr>
            <a:r>
              <a:rPr sz="969" b="0">
                <a:solidFill>
                  <a:srgbClr val="0F1108"/>
                </a:solidFill>
                <a:latin typeface="Outfit Medium"/>
              </a:rPr>
              <a:t>nome@empresa.com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91676" y="4415909"/>
            <a:ext cx="997505" cy="168243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1036"/>
              </a:lnSpc>
              <a:spcBef>
                <a:spcPts val="0"/>
              </a:spcBef>
              <a:spcAft>
                <a:spcPts val="0"/>
              </a:spcAft>
            </a:pPr>
            <a:r>
              <a:rPr sz="691" b="1">
                <a:solidFill>
                  <a:srgbClr val="EF476F"/>
                </a:solidFill>
                <a:latin typeface="Outfit"/>
              </a:rPr>
              <a:t>TELEFONE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91676" y="4588073"/>
            <a:ext cx="1876615" cy="221231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1453"/>
              </a:lnSpc>
              <a:spcBef>
                <a:spcPts val="0"/>
              </a:spcBef>
              <a:spcAft>
                <a:spcPts val="0"/>
              </a:spcAft>
            </a:pPr>
            <a:r>
              <a:rPr sz="969" b="0">
                <a:solidFill>
                  <a:srgbClr val="0F1108"/>
                </a:solidFill>
                <a:latin typeface="Outfit Medium"/>
              </a:rPr>
              <a:t>+55 00 00000-0000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73935" y="5330070"/>
            <a:ext cx="2137314" cy="33363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1621"/>
              </a:lnSpc>
              <a:spcBef>
                <a:spcPts val="0"/>
              </a:spcBef>
              <a:spcAft>
                <a:spcPts val="0"/>
              </a:spcAft>
            </a:pPr>
            <a:r>
              <a:rPr sz="1559" b="0">
                <a:solidFill>
                  <a:srgbClr val="FFFFFC"/>
                </a:solidFill>
                <a:latin typeface="Outfit Medium"/>
              </a:rPr>
              <a:t>Kleber Edurado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73935" y="5536028"/>
            <a:ext cx="2529863" cy="33363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1621"/>
              </a:lnSpc>
              <a:spcBef>
                <a:spcPts val="0"/>
              </a:spcBef>
              <a:spcAft>
                <a:spcPts val="0"/>
              </a:spcAft>
            </a:pPr>
            <a:r>
              <a:rPr sz="1559" b="0">
                <a:solidFill>
                  <a:srgbClr val="FFFFFC"/>
                </a:solidFill>
                <a:latin typeface="Outfit Medium"/>
              </a:rPr>
              <a:t>Vicente dos Santos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73935" y="5811321"/>
            <a:ext cx="2612707" cy="169848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944"/>
              </a:lnSpc>
              <a:spcBef>
                <a:spcPts val="0"/>
              </a:spcBef>
              <a:spcAft>
                <a:spcPts val="0"/>
              </a:spcAft>
            </a:pPr>
            <a:r>
              <a:rPr sz="699" b="1">
                <a:solidFill>
                  <a:srgbClr val="EF476F"/>
                </a:solidFill>
                <a:latin typeface="Outfit"/>
              </a:rPr>
              <a:t>HEAD DE INOVAÇÃO, PRODUTOS 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73935" y="5931267"/>
            <a:ext cx="2646211" cy="169848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944"/>
              </a:lnSpc>
              <a:spcBef>
                <a:spcPts val="0"/>
              </a:spcBef>
              <a:spcAft>
                <a:spcPts val="0"/>
              </a:spcAft>
            </a:pPr>
            <a:r>
              <a:rPr sz="699" b="1">
                <a:solidFill>
                  <a:srgbClr val="EF476F"/>
                </a:solidFill>
                <a:latin typeface="Outfit"/>
              </a:rPr>
              <a:t>DESENVOLVIMENTO DE NEGÓCIOS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Template de Slides — NeuralMind.ai — editável</dc:title>
  <dc:subject>Fundos fiéis ao HTML/CSS com caixas de texto editáveis</dc:subject>
  <dc:creator>NeuralMind.ai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