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Capa.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Divisor de seção.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Visão geral de verticais.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Produto com mockup.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Frase manifesto.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Título e lista.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Métrica de impacto.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Fluxo de processo.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Foto e statement.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Fundadores.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 com equipe.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Processo em três colunas.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Arquitetura de produto.</a:t>
            </a:r>
          </a:p>
          <a:p>
            <a:r>
              <a:t>Substitua os textos de exemplo mantendo hierarquia, margens e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10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3D0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22191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BRAND GUIDE DIGITAL</a:t>
            </a:r>
          </a:p>
        </p:txBody>
      </p:sp>
      <p:pic>
        <p:nvPicPr>
          <p:cNvPr id="6" name="Picture 5" descr="neuralmind-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79392"/>
            <a:ext cx="4800600" cy="68095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60120" y="5202936"/>
            <a:ext cx="960120" cy="41148"/>
          </a:xfrm>
          <a:prstGeom prst="rect">
            <a:avLst/>
          </a:prstGeom>
          <a:solidFill>
            <a:srgbClr val="F27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44982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FFFFC"/>
                </a:solidFill>
                <a:latin typeface="NeuralMind Sans Square"/>
              </a:rPr>
              <a:t>IA responsável para setores críticos.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CAPÍTULO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58568"/>
            <a:ext cx="868680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500" b="1">
                <a:solidFill>
                  <a:srgbClr val="FFFFFC"/>
                </a:solidFill>
                <a:latin typeface="NeuralMind Sans Square"/>
              </a:rPr>
              <a:t>Arquitetura de
Produtos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133087"/>
            <a:ext cx="6217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C"/>
                </a:solidFill>
                <a:latin typeface="NeuralMind Sans Square"/>
              </a:rPr>
              <a:t>Três verticais, um único compromisso: IA responsável para decisões em ambientes regulados.</a:t>
            </a:r>
          </a:p>
        </p:txBody>
      </p:sp>
      <p:pic>
        <p:nvPicPr>
          <p:cNvPr id="6" name="Picture 5" descr="neuralmind-ai-ico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VERTICAIS DE ATUAÇÃO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87552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FFFFC"/>
                </a:solidFill>
                <a:latin typeface="NeuralMind Sans Square"/>
              </a:rPr>
              <a:t>IA responsável para setores
onde precisão não é opcional.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6984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C"/>
                </a:solidFill>
                <a:latin typeface="NeuralMind Sans Square"/>
              </a:rPr>
              <a:t>Cada vertical resolve um tipo distinto de problema crítico, sempre com fonte verificável, rastreabilidade e supervisão humana no centro da decisão.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NeuralMind Sans Square"/>
              </a:rPr>
              <a:t>Dados &amp; Conhecimento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Transforma documentos, bases internas e informação não estruturada em respostas, evidências e insights verificáveis.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NeuralMind Sans Square"/>
              </a:rPr>
              <a:t>NeuralSearchX   NDocs   Tuss-Finder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NeuralMind Sans Square"/>
              </a:rPr>
              <a:t>Jurídico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Modelos e aplicações especializados no contexto brasileiro para apoiar análise, fundamentação e produção jurídica.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73168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NeuralMind Sans Square"/>
              </a:rPr>
              <a:t>Jurema   ARACI   AssertIA   SofIA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761488"/>
            <a:ext cx="3493008" cy="3246120"/>
          </a:xfrm>
          <a:prstGeom prst="roundRect">
            <a:avLst>
              <a:gd name="adj" fmla="val 8000"/>
            </a:avLst>
          </a:prstGeom>
          <a:solidFill>
            <a:srgbClr val="3A1550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297180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346704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C"/>
                </a:solidFill>
                <a:latin typeface="NeuralMind Sans Square"/>
              </a:rPr>
              <a:t>Saúde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005072"/>
            <a:ext cx="30449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Soluções para priorização, classificação e apoio operacional em ambientes clínicos, regulatórios e assistenciais.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5093208"/>
            <a:ext cx="3054096" cy="9144"/>
          </a:xfrm>
          <a:prstGeom prst="rect">
            <a:avLst/>
          </a:prstGeom>
          <a:solidFill>
            <a:srgbClr val="725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5285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9381FF"/>
                </a:solidFill>
                <a:latin typeface="NeuralMind Sans Square"/>
              </a:rPr>
              <a:t>PrioScan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PRODUTO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6012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90241"/>
                </a:solidFill>
                <a:latin typeface="NeuralMind Sans Square"/>
              </a:rPr>
              <a:t>NeuralSearchX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40233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90241"/>
                </a:solidFill>
                <a:latin typeface="NeuralMind Sans Square"/>
              </a:rPr>
              <a:t>IA que responde o que você precisa — com a fonte sempre à vista.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87752"/>
            <a:ext cx="39776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A6570"/>
                </a:solidFill>
                <a:latin typeface="NeuralMind Sans Square"/>
              </a:rPr>
              <a:t>Busca conversacional sobre bases internas de documentos. Cada resposta carrega o trecho original que a fundamenta, permitindo verificação imediata e decisões com lastro.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822191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986783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941063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Busca semântica multifonte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407407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571999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526279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Citação do trecho original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992624"/>
            <a:ext cx="4069080" cy="9144"/>
          </a:xfrm>
          <a:prstGeom prst="rect">
            <a:avLst/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157216"/>
            <a:ext cx="4114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511149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Validação humana no fluxo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502920"/>
            <a:ext cx="6245352" cy="5806440"/>
          </a:xfrm>
          <a:prstGeom prst="roundRect">
            <a:avLst>
              <a:gd name="adj" fmla="val 8000"/>
            </a:avLst>
          </a:prstGeom>
          <a:solidFill>
            <a:srgbClr val="FAF9F4"/>
          </a:solidFill>
          <a:ln w="8890">
            <a:solidFill>
              <a:srgbClr val="D4CC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05272" y="960120"/>
            <a:ext cx="5486400" cy="4892040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C9C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70448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0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99632" y="1170432"/>
            <a:ext cx="73152" cy="73152"/>
          </a:xfrm>
          <a:prstGeom prst="roundRect">
            <a:avLst>
              <a:gd name="adj" fmla="val 8000"/>
            </a:avLst>
          </a:prstGeom>
          <a:solidFill>
            <a:srgbClr val="D4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16184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CONSULTA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1883664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108"/>
                </a:solidFill>
                <a:latin typeface="NeuralMind Sans Square"/>
              </a:rPr>
              <a:t>Quais contratos exigem revisão regulatória?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2615184"/>
            <a:ext cx="4892040" cy="1234440"/>
          </a:xfrm>
          <a:prstGeom prst="roundRect">
            <a:avLst>
              <a:gd name="adj" fmla="val 8000"/>
            </a:avLst>
          </a:prstGeom>
          <a:solidFill>
            <a:srgbClr val="F3F0F7"/>
          </a:solidFill>
          <a:ln w="8890">
            <a:solidFill>
              <a:srgbClr val="D4CC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8192" y="283464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RESPOSTA COM FONTE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3182112"/>
            <a:ext cx="4343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F1108"/>
                </a:solidFill>
                <a:latin typeface="NeuralMind Sans Square"/>
              </a:rPr>
              <a:t>Foram identificados três documentos com cláusulas de atualização regulatória e prazo de revisão em aberto.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4160520"/>
            <a:ext cx="4892040" cy="475488"/>
          </a:xfrm>
          <a:prstGeom prst="roundRect">
            <a:avLst>
              <a:gd name="adj" fmla="val 8000"/>
            </a:avLst>
          </a:prstGeom>
          <a:solidFill>
            <a:srgbClr val="FAF8FC"/>
          </a:solidFill>
          <a:ln w="8890">
            <a:solidFill>
              <a:srgbClr val="DE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9048" y="425195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2766B"/>
                </a:solidFill>
                <a:latin typeface="NeuralMind Sans Square"/>
              </a:rPr>
              <a:t>Fonte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23367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90241"/>
                </a:solidFill>
                <a:latin typeface="NeuralMind Sans Square"/>
              </a:rPr>
              <a:t>Contrato matriz · pág. 14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97880" y="4782312"/>
            <a:ext cx="4892040" cy="475488"/>
          </a:xfrm>
          <a:prstGeom prst="roundRect">
            <a:avLst>
              <a:gd name="adj" fmla="val 8000"/>
            </a:avLst>
          </a:prstGeom>
          <a:solidFill>
            <a:srgbClr val="FAF8FC"/>
          </a:solidFill>
          <a:ln w="8890">
            <a:solidFill>
              <a:srgbClr val="DE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9048" y="4873751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F2766B"/>
                </a:solidFill>
                <a:latin typeface="NeuralMind Sans Square"/>
              </a:rPr>
              <a:t>Fonte 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5546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90241"/>
                </a:solidFill>
                <a:latin typeface="NeuralMind Sans Square"/>
              </a:rPr>
              <a:t>Anexo jurídico · pág. 08</a:t>
            </a:r>
          </a:p>
        </p:txBody>
      </p:sp>
      <p:pic>
        <p:nvPicPr>
          <p:cNvPr id="32" name="Picture 31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1938528"/>
            <a:ext cx="990295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>
                <a:solidFill>
                  <a:srgbClr val="290241"/>
                </a:solidFill>
                <a:latin typeface="NeuralMind Sans Square"/>
              </a:rPr>
              <a:t>A IA gera, organiza, sugere e acelera.
O humano valida, decide e assume o controle.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1960" y="427939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2766B"/>
                </a:solidFill>
                <a:latin typeface="NeuralMind Sans Square"/>
              </a:rPr>
              <a:t>MANIFESTO NEURALMIND.AI</a:t>
            </a:r>
          </a:p>
        </p:txBody>
      </p:sp>
      <p:pic>
        <p:nvPicPr>
          <p:cNvPr id="5" name="Picture 4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96012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POSICIONAMENTO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44752"/>
            <a:ext cx="48463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90241"/>
                </a:solidFill>
                <a:latin typeface="NeuralMind Sans Square"/>
              </a:rPr>
              <a:t>Inteligência artificial
com rastreabilidade.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170432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9047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417320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NeuralMind Sans Square"/>
              </a:rPr>
              <a:t>Cada resposta carrega o trecho exato que a fundamenta.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496312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8163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743200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NeuralMind Sans Square"/>
              </a:rPr>
              <a:t>Modelos especializados em domínio — não generalistas.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822191"/>
            <a:ext cx="4754880" cy="914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142231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069079"/>
            <a:ext cx="3794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108"/>
                </a:solidFill>
                <a:latin typeface="NeuralMind Sans Square"/>
              </a:rPr>
              <a:t>Operação auditável e em conformidade com a LGPD.</a:t>
            </a:r>
          </a:p>
        </p:txBody>
      </p:sp>
      <p:pic>
        <p:nvPicPr>
          <p:cNvPr id="14" name="Picture 13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RESULTADO · NEURALSEARCHX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72768"/>
            <a:ext cx="4754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0" b="1">
                <a:solidFill>
                  <a:srgbClr val="FFFFFC"/>
                </a:solidFill>
                <a:latin typeface="NeuralMind Sans Square"/>
              </a:rPr>
              <a:t>4</a:t>
            </a:r>
            <a:r>
              <a:rPr sz="6600" b="1">
                <a:solidFill>
                  <a:srgbClr val="F2766B"/>
                </a:solidFill>
                <a:latin typeface="NeuralMind Sans Square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2148840"/>
            <a:ext cx="43891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FFFFFC"/>
                </a:solidFill>
                <a:latin typeface="NeuralMind Sans Square"/>
              </a:rPr>
              <a:t>Redução de latência da busca semântica multifonte na nova arquitetura, sem perda de citação ou rastreabilidade.</a:t>
            </a:r>
          </a:p>
        </p:txBody>
      </p:sp>
      <p:pic>
        <p:nvPicPr>
          <p:cNvPr id="6" name="Picture 5" descr="neuralmind-ai-ico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FLUXO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41832"/>
            <a:ext cx="6400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90241"/>
                </a:solidFill>
                <a:latin typeface="NeuralMind Sans Square"/>
              </a:rPr>
              <a:t>Da pergunta à decisão auditável.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78992" y="2907792"/>
            <a:ext cx="9738360" cy="32004"/>
          </a:xfrm>
          <a:prstGeom prst="rect">
            <a:avLst/>
          </a:prstGeom>
          <a:solidFill>
            <a:srgbClr val="CFC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Pergunta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O usuário descreve a necessidade em linguagem comum.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Busca semântica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Recuperação em múltiplas fontes com citação do trecho exato.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45936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Síntese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Resposta consolidada, vinculada a cada referência.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62288" y="2615184"/>
            <a:ext cx="603504" cy="603504"/>
          </a:xfrm>
          <a:prstGeom prst="roundRect">
            <a:avLst>
              <a:gd name="adj" fmla="val 8000"/>
            </a:avLst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2288" y="2761488"/>
            <a:ext cx="603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C"/>
                </a:solidFill>
                <a:latin typeface="NeuralMind Sans Square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34930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90241"/>
                </a:solidFill>
                <a:latin typeface="NeuralMind Sans Square"/>
              </a:rPr>
              <a:t>Validação humana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404164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6570"/>
                </a:solidFill>
                <a:latin typeface="NeuralMind Sans Square"/>
              </a:rPr>
              <a:t>O especialista revisa, decide e assume o controle.</a:t>
            </a:r>
          </a:p>
        </p:txBody>
      </p:sp>
      <p:pic>
        <p:nvPicPr>
          <p:cNvPr id="22" name="Picture 21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C"/>
                </a:solidFill>
                <a:latin typeface="NeuralMind Sans Square"/>
              </a:rPr>
              <a:t>Vamos construir
juntos.</a:t>
            </a:r>
          </a:p>
        </p:txBody>
      </p:sp>
      <p:pic>
        <p:nvPicPr>
          <p:cNvPr id="5" name="Picture 4" descr="neuralmind-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138928"/>
            <a:ext cx="2880360" cy="4085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130759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COMERCIAL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65506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NeuralMind Sans Square"/>
              </a:rPr>
              <a:t>contato@neuralmind.ai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63347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98094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NeuralMind Sans Square"/>
              </a:rPr>
              <a:t>neuralmind.ai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3959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430682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C"/>
                </a:solidFill>
                <a:latin typeface="NeuralMind Sans Square"/>
              </a:rPr>
              <a:t>@neuralmind.ai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llabor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0" y="0"/>
            <a:ext cx="6528816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PESSOAS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783080"/>
            <a:ext cx="51206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C"/>
                </a:solidFill>
                <a:latin typeface="NeuralMind Sans Square"/>
              </a:rPr>
              <a:t>A IA é poderosa.
As pessoas,
indispensáveis.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4187952"/>
            <a:ext cx="45262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C"/>
                </a:solidFill>
                <a:latin typeface="NeuralMind Sans Square"/>
              </a:rPr>
              <a:t>Construímos modelos para apoiar especialistas — não para substituí-los. A última palavra é, e segue sendo, humana.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42519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90241"/>
                </a:solidFill>
                <a:latin typeface="NeuralMind Sans Square"/>
              </a:rPr>
              <a:t>Ciência aplicada.
Responsabilidade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411480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A6570"/>
                </a:solidFill>
                <a:latin typeface="NeuralMind Sans Square"/>
              </a:rPr>
              <a:t>Fundada por Patricia Magalhães e Roberto Lotufo, a NeuralMind transforma pesquisa em IA responsável, auditável e confiável para organizações que lidam com alta complexidade e decisões críticas.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8587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39136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NeuralMind Sans Square"/>
              </a:rPr>
              <a:t>Rigor científico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3159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3708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NeuralMind Sans Square"/>
              </a:rPr>
              <a:t>Decisão humana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773168"/>
            <a:ext cx="3520440" cy="310896"/>
          </a:xfrm>
          <a:prstGeom prst="roundRect">
            <a:avLst>
              <a:gd name="adj" fmla="val 8000"/>
            </a:avLst>
          </a:prstGeom>
          <a:solidFill>
            <a:srgbClr val="E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82803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90241"/>
                </a:solidFill>
                <a:latin typeface="NeuralMind Sans Square"/>
              </a:rPr>
              <a:t>Setores regulados</a:t>
            </a:r>
          </a:p>
        </p:txBody>
      </p:sp>
      <p:pic>
        <p:nvPicPr>
          <p:cNvPr id="12" name="Picture 11" descr="patricia-foun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368" y="713232"/>
            <a:ext cx="2743200" cy="422452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30368" y="4078224"/>
            <a:ext cx="2743200" cy="859536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3248" y="427939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C"/>
                </a:solidFill>
                <a:latin typeface="NeuralMind Sans Square"/>
              </a:rPr>
              <a:t>Patricia Magalhães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460857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381FF"/>
                </a:solidFill>
                <a:latin typeface="NeuralMind Sans Square"/>
              </a:rPr>
              <a:t>Co-fundadora &amp; CEO</a:t>
            </a:r>
          </a:p>
        </p:txBody>
      </p:sp>
      <p:pic>
        <p:nvPicPr>
          <p:cNvPr id="16" name="Picture 15" descr="roberto-lotufo-found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713232"/>
            <a:ext cx="2743200" cy="42245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293608" y="4078224"/>
            <a:ext cx="2743200" cy="859536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6488" y="427939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C"/>
                </a:solidFill>
                <a:latin typeface="NeuralMind Sans Square"/>
              </a:rPr>
              <a:t>Roberto Lotufo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460857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381FF"/>
                </a:solidFill>
                <a:latin typeface="NeuralMind Sans Square"/>
              </a:rPr>
              <a:t>Co-fundador &amp; CTO</a:t>
            </a:r>
          </a:p>
        </p:txBody>
      </p:sp>
      <p:pic>
        <p:nvPicPr>
          <p:cNvPr id="20" name="Picture 19" descr="neuralmind-ai-icon-pur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eam-neuralmind-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PRÓXIMO PASSO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7132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C"/>
                </a:solidFill>
                <a:latin typeface="NeuralMind Sans Square"/>
              </a:rPr>
              <a:t>Vamos construir juntos.</a:t>
            </a:r>
          </a:p>
        </p:txBody>
      </p:sp>
      <p:pic>
        <p:nvPicPr>
          <p:cNvPr id="7" name="Picture 6" descr="neuralmind-a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87568"/>
            <a:ext cx="2834640" cy="402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43800" y="5596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COMERCIAL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5879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C"/>
                </a:solidFill>
                <a:latin typeface="NeuralMind Sans Square"/>
              </a:rPr>
              <a:t>contato@neuralmind.ai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55961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7232" y="587959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C"/>
                </a:solidFill>
                <a:latin typeface="NeuralMind Sans Square"/>
              </a:rPr>
              <a:t>neuralmind.ai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3E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90241"/>
                </a:solidFill>
                <a:latin typeface="NeuralMind Sans Square"/>
              </a:rPr>
              <a:t>PROCESSO EM 3 ETAPAS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290241"/>
                </a:solidFill>
                <a:latin typeface="NeuralMind Sans Square"/>
              </a:rPr>
              <a:t>Da complexidade à decisão assistida.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99616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Modelo para explicar jornadas curtas, pipelines comerciais, onboarding ou etapas de implantação.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NeuralMind Sans Square"/>
              </a:rPr>
              <a:t>Mapear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Identificamos fontes, regras de negócio, usuários e pontos de decisão que exigem rastreabilidade.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35424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91456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NeuralMind Sans Square"/>
              </a:rPr>
              <a:t>Construir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456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Combinamos modelos especializados, busca semântica e agentes para criar uma solução sob medida.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57615" y="2414016"/>
            <a:ext cx="3456432" cy="3310128"/>
          </a:xfrm>
          <a:prstGeom prst="roundRect">
            <a:avLst>
              <a:gd name="adj" fmla="val 8000"/>
            </a:avLst>
          </a:prstGeom>
          <a:solidFill>
            <a:srgbClr val="FFFFFC"/>
          </a:solidFill>
          <a:ln w="8890">
            <a:solidFill>
              <a:srgbClr val="D5C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7" y="2706624"/>
            <a:ext cx="502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7" y="318211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90241"/>
                </a:solidFill>
                <a:latin typeface="NeuralMind Sans Square"/>
              </a:rPr>
              <a:t>Validar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647" y="388620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A6570"/>
                </a:solidFill>
                <a:latin typeface="NeuralMind Sans Square"/>
              </a:rPr>
              <a:t>Especialistas revisam saídas, monitoram qualidade e transformam IA em operação confiável.</a:t>
            </a:r>
          </a:p>
        </p:txBody>
      </p:sp>
      <p:pic>
        <p:nvPicPr>
          <p:cNvPr id="18" name="Picture 17" descr="neuralmind-ai-icon-pur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6236208"/>
            <a:ext cx="658368" cy="3119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90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0292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766B"/>
                </a:solidFill>
                <a:latin typeface="NeuralMind Sans Square"/>
              </a:rPr>
              <a:t>ARQUITETURA DE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877824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C"/>
                </a:solidFill>
                <a:latin typeface="NeuralMind Sans Square"/>
              </a:rPr>
              <a:t>ARACI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381FF"/>
                </a:solidFill>
                <a:latin typeface="NeuralMind Sans Square"/>
              </a:rPr>
              <a:t>Copiloto jurídico powered by NeuralSearchX + Jurema.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1993392"/>
            <a:ext cx="4709160" cy="1307592"/>
          </a:xfrm>
          <a:prstGeom prst="roundRect">
            <a:avLst>
              <a:gd name="adj" fmla="val 8000"/>
            </a:avLst>
          </a:prstGeom>
          <a:solidFill>
            <a:srgbClr val="4A1A61"/>
          </a:solidFill>
          <a:ln w="8890">
            <a:solidFill>
              <a:srgbClr val="806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22402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PRODUTO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5072" y="2587752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C"/>
                </a:solidFill>
                <a:latin typeface="NeuralMind Sans Square"/>
              </a:rPr>
              <a:t>ARACI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46888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C"/>
                </a:solidFill>
                <a:latin typeface="NeuralMind Sans Square"/>
              </a:rPr>
              <a:t>Análise, fundamentos e minutas com rastreabilidade para o trabalho jurídico.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BUSCA PROPRIETÁRIA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NeuralMind Sans Square"/>
              </a:rPr>
              <a:t>NeuralSearchX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NeuralMind Sans Square"/>
              </a:rPr>
              <a:t>Recupera evidências, documentos e fontes verificáveis para cada resposta.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35424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MODELO ESPECIALIZADO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NeuralMind Sans Square"/>
              </a:rPr>
              <a:t>Jurema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NeuralMind Sans Square"/>
              </a:rPr>
              <a:t>LLM jurídico brasileiro para linguagem, doutrina e contexto normativo local.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5" y="3886200"/>
            <a:ext cx="3456432" cy="2057400"/>
          </a:xfrm>
          <a:prstGeom prst="roundRect">
            <a:avLst>
              <a:gd name="adj" fmla="val 8000"/>
            </a:avLst>
          </a:prstGeom>
          <a:solidFill>
            <a:srgbClr val="371148"/>
          </a:solidFill>
          <a:ln w="8890">
            <a:solidFill>
              <a:srgbClr val="725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4151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381FF"/>
                </a:solidFill>
                <a:latin typeface="NeuralMind Sans Square"/>
              </a:rPr>
              <a:t>CAMADA OPERACIONAL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45079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C"/>
                </a:solidFill>
                <a:latin typeface="NeuralMind Sans Square"/>
              </a:rPr>
              <a:t>Agentes &amp;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2" y="502920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C"/>
                </a:solidFill>
                <a:latin typeface="NeuralMind Sans Square"/>
              </a:rPr>
              <a:t>Orquestra tarefas, validações e próximos passos sob supervisão humana.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</dc:title>
  <dc:subject>Sistema modular 16:9 editável</dc:subject>
  <dc:creator>NeuralMind.AI</dc:creator>
  <cp:keywords/>
  <dc:description>Gerado a partir do brand guide digital em HTML/CSS.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